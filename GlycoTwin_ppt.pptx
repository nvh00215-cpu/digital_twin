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F2E2D"/>
                </a:solidFill>
                <a:latin typeface="Calibri"/>
              </a:defRPr>
            </a:pPr>
            <a:r>
              <a:rPr sz="1400" b="0" i="0" u="none" strike="noStrike">
                <a:solidFill>
                  <a:srgbClr val="2F2E2D"/>
                </a:solidFill>
                <a:latin typeface="Calibri"/>
              </a:rPr>
              <a:t>AUROC (higher is better)</a:t>
            </a:r>
          </a:p>
        </c:rich>
      </c:tx>
      <c:layout/>
      <c:overlay val="0"/>
    </c:title>
    <c:autoTitleDeleted val="0"/>
    <c:plotArea>
      <c:layout/>
      <c:barChart>
        <c:barDir val="col"/>
        <c:grouping val="clustered"/>
        <c:varyColors val="0"/>
        <c:ser>
          <c:idx val="0"/>
          <c:order val="0"/>
          <c:tx>
            <c:strRef>
              <c:f>Sheet1!$B$1</c:f>
              <c:strCache>
                <c:ptCount val="1"/>
                <c:pt idx="0">
                  <c:v>AUROC</c:v>
                </c:pt>
              </c:strCache>
            </c:strRef>
          </c:tx>
          <c:spPr>
            <a:solidFill>
              <a:srgbClr val="3F7B64"/>
            </a:solidFill>
            <a:effectLst/>
          </c:spPr>
          <c:invertIfNegative val="0"/>
          <c:dLbls>
            <c:numFmt formatCode="0.000" sourceLinked="0"/>
            <c:txPr>
              <a:bodyPr/>
              <a:lstStyle/>
              <a:p>
                <a:pPr>
                  <a:defRPr b="0" i="0" strike="noStrike" sz="1400" u="none">
                    <a:solidFill>
                      <a:srgbClr val="2F2E2D"/>
                    </a:solidFill>
                    <a:latin typeface="Calibri"/>
                  </a:defRPr>
                </a:pPr>
              </a:p>
            </c:txPr>
            <c:showLegendKey val="0"/>
            <c:showVal val="1"/>
            <c:showCatName val="0"/>
            <c:showSerName val="0"/>
            <c:showPercent val="0"/>
            <c:showBubbleSize val="0"/>
            <c:showLeaderLines val="0"/>
          </c:dLbls>
          <c:dPt>
            <c:idx val="0"/>
            <c:invertIfNegative val="0"/>
            <c:bubble3D val="0"/>
            <c:spPr>
              <a:solidFill>
                <a:srgbClr val="3F7B64"/>
              </a:solidFill>
              <a:effectLst/>
            </c:spPr>
          </c:dPt>
          <c:dPt>
            <c:idx val="1"/>
            <c:invertIfNegative val="0"/>
            <c:bubble3D val="0"/>
            <c:spPr>
              <a:solidFill>
                <a:srgbClr val="A9A6A3"/>
              </a:solidFill>
              <a:effectLst/>
            </c:spPr>
          </c:dPt>
          <c:dPt>
            <c:idx val="2"/>
            <c:invertIfNegative val="0"/>
            <c:bubble3D val="0"/>
            <c:spPr>
              <a:solidFill>
                <a:srgbClr val="A9A6A3"/>
              </a:solidFill>
              <a:effectLst/>
            </c:spPr>
          </c:dPt>
          <c:cat>
            <c:multiLvlStrRef>
              <c:f>Sheet1!$A$2:$A$4</c:f>
              <c:multiLvlStrCache>
                <c:ptCount val="3"/>
                <c:lvl>
                  <c:pt idx="0">
                    <c:v>Fused: record + wearable</c:v>
                  </c:pt>
                  <c:pt idx="1">
                    <c:v>Glucose alone</c:v>
                  </c:pt>
                  <c:pt idx="2">
                    <c:v>30-min slope alone</c:v>
                  </c:pt>
                </c:lvl>
              </c:multiLvlStrCache>
            </c:multiLvlStrRef>
          </c:cat>
          <c:val>
            <c:numRef>
              <c:f>Sheet1!$B$2:$B$4</c:f>
              <c:numCache>
                <c:formatCode>General</c:formatCode>
                <c:ptCount val="3"/>
                <c:pt idx="0">
                  <c:v>0.986</c:v>
                </c:pt>
                <c:pt idx="1">
                  <c:v>0.751</c:v>
                </c:pt>
                <c:pt idx="2">
                  <c:v>0.619</c:v>
                </c:pt>
              </c:numCache>
            </c:numRef>
          </c:val>
        </c:ser>
        <c:dLbls>
          <c:numFmt formatCode="0.000" sourceLinked="0"/>
          <c:txPr>
            <a:bodyPr/>
            <a:lstStyle/>
            <a:p>
              <a:pPr>
                <a:defRPr b="0" i="0" strike="noStrike" sz="1400" u="none">
                  <a:solidFill>
                    <a:srgbClr val="2F2E2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F2E2D"/>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1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967"/>
                </a:solidFill>
                <a:latin typeface="Calibri"/>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 Aeternum, led by Naveen V Hiremath, and GlycoTwin, a Type 2 diabetes digital twin for the Happiest Health Digital Twin Challenge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After analyzing the challenge brief, we understand the problem statement: patients visit the hospital and get checkups, but even after a checkup the doctor sometimes cannot predict whether a patient will have a glucose spike. GlycoTwin helps the doctor monitor the patient when an emergency occurs.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101 million adults in India live with diabetes (ICMR-INDIAB study, The Lancet Diabetes and Endocrinology, 2023). Patients visit the hospital and get checkups, but a checkup shows where the patient is today. Even after it, the doctor sometimes cannot predict whether a patient is going to have a glucose spike, and an unpredicted spike can become an emergency, which the next slide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the Mayo Clinic page on hyperglycemia. Early signs: urinating often, thirst, blurred vision, tiredness. Emergencies: diabetic ketoacidosis, and the hyperosmolar hyperglycemic state with severe dehydration. Later symptoms include nausea, vomiting, confusion and passing out. Over time high glucose damages the heart and blood vessels, nerves, kidneys and eyes, and causes foot problems that can end in amputation.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GlycoTwin joins the clinic record and the wearable trace for one patient, estimates the chance of a glucose spike in the next 2 hours, and alerts the care team. It is designed to run 24/7, so a likely spike is flagged in advance and the doctor can act when an emergency is developing. In the prototype this runs on a stored 14-day trace, not on live wearables.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never looks ahead. The alert comes from the LightGBM risk alone; the four glucose models only draw the forecast curve. Train and test patients are separated by person. 339 synthetic patients, 222,384 decision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60 percent there is no alert. At 60 percent or higher, the care team (a nurse or coordinator) gets the alert with the contributing factors from the model, contacts the patient following the clinic's protocol and documents the outcome. The doctor is involved only if the clinic's criteria are met, for example symptoms, an unreachable patient, or repeated alerts. At the 60 percent threshold the model raises 0.272 false alarms per patient-day. The prototype does not send real messages; this is the designed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140 to 160 mg/dL band, across 4,005 decision points, the 2-hour spike rate is 0.8 percent when HbA1c is under 7 percent and 29.7 percent when it is 7 percent or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AUROC on the 52 held-out patients: fused 0.986, glucose alone 0.751, 30-minute slope alone 0.619. Say clearly that the high score is on a formula-generated series and is not clinical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doctor UI runs at localhost:3000 and is deployed on Vercel, with the API on Render. After sign-in the list is sorted by risk. The replay runs from 5 January 2026, 06:00 to 18 January 2026, 21:30. The what-if sliders state the change in words. One alert was right (glucose 176.5 mg/dL, then a real spike) and one was wrong (glucose 168.2 mg/dL, alert on, no spike).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limits: the data is synthetic, the score is not clinical validation, the screen never recommends a dose, and the prototype sends no real messages. Next steps: consented real data, integration designed for ABHA and the WhatsApp Business API (not built yet), prospective validation, and clinic-defined escalation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judges and offer to open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ills, tree and colour lines">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630936" y="329184"/>
            <a:ext cx="2926080" cy="365760"/>
          </a:xfrm>
          <a:prstGeom prst="rect">
            <a:avLst/>
          </a:prstGeom>
          <a:noFill/>
          <a:ln/>
        </p:spPr>
        <p:txBody>
          <a:bodyPr wrap="square" lIns="0" tIns="0" rIns="0" bIns="0" rtlCol="0" anchor="ctr"/>
          <a:lstStyle/>
          <a:p>
            <a:pPr indent="0" marL="0">
              <a:buNone/>
            </a:pPr>
            <a:r>
              <a:rPr lang="en-US" sz="2200" b="1" dirty="0">
                <a:solidFill>
                  <a:srgbClr val="C74634"/>
                </a:solidFill>
              </a:rPr>
              <a:t>GlycoTwin</a:t>
            </a:r>
            <a:endParaRPr lang="en-US" sz="2200" dirty="0"/>
          </a:p>
        </p:txBody>
      </p:sp>
      <p:sp>
        <p:nvSpPr>
          <p:cNvPr id="4" name="Text 1"/>
          <p:cNvSpPr txBox="1"/>
          <p:nvPr/>
        </p:nvSpPr>
        <p:spPr>
          <a:xfrm>
            <a:off x="630936" y="676656"/>
            <a:ext cx="4206240" cy="228600"/>
          </a:xfrm>
          <a:prstGeom prst="rect">
            <a:avLst/>
          </a:prstGeom>
          <a:noFill/>
          <a:ln/>
        </p:spPr>
        <p:txBody>
          <a:bodyPr wrap="square" lIns="0" tIns="0" rIns="0" bIns="0" rtlCol="0" anchor="ctr"/>
          <a:lstStyle/>
          <a:p>
            <a:pPr indent="0" marL="0">
              <a:buNone/>
            </a:pPr>
            <a:r>
              <a:rPr lang="en-US" sz="1100" dirty="0">
                <a:solidFill>
                  <a:srgbClr val="6B6967"/>
                </a:solidFill>
              </a:rPr>
              <a:t>Happiest Health Digital Twin Challenge 2026</a:t>
            </a:r>
            <a:endParaRPr lang="en-US" sz="1100" dirty="0"/>
          </a:p>
        </p:txBody>
      </p:sp>
      <p:sp>
        <p:nvSpPr>
          <p:cNvPr id="5" name="Text 2"/>
          <p:cNvSpPr txBox="1"/>
          <p:nvPr/>
        </p:nvSpPr>
        <p:spPr>
          <a:xfrm>
            <a:off x="630936" y="1417320"/>
            <a:ext cx="5760720" cy="1188720"/>
          </a:xfrm>
          <a:prstGeom prst="rect">
            <a:avLst/>
          </a:prstGeom>
          <a:noFill/>
          <a:ln/>
        </p:spPr>
        <p:txBody>
          <a:bodyPr wrap="square" lIns="0" tIns="0" rIns="0" bIns="0" rtlCol="0" anchor="ctr"/>
          <a:lstStyle/>
          <a:p>
            <a:pPr indent="0" marL="0">
              <a:buNone/>
            </a:pPr>
            <a:r>
              <a:rPr lang="en-US" sz="3400" b="1" dirty="0">
                <a:solidFill>
                  <a:srgbClr val="2F2E2D"/>
                </a:solidFill>
              </a:rPr>
              <a:t>GlycoTwin: Type 2 Diabetes Digital Twin</a:t>
            </a:r>
            <a:endParaRPr lang="en-US" sz="3400" dirty="0"/>
          </a:p>
        </p:txBody>
      </p:sp>
      <p:sp>
        <p:nvSpPr>
          <p:cNvPr id="6" name="Shape 3"/>
          <p:cNvSpPr/>
          <p:nvPr/>
        </p:nvSpPr>
        <p:spPr>
          <a:xfrm>
            <a:off x="630936" y="2743200"/>
            <a:ext cx="274320" cy="32004"/>
          </a:xfrm>
          <a:prstGeom prst="rect">
            <a:avLst/>
          </a:prstGeom>
          <a:solidFill>
            <a:srgbClr val="E0A84A"/>
          </a:solidFill>
          <a:ln w="12700">
            <a:solidFill>
              <a:srgbClr val="E0A84A"/>
            </a:solidFill>
            <a:prstDash val="solid"/>
          </a:ln>
        </p:spPr>
      </p:sp>
      <p:sp>
        <p:nvSpPr>
          <p:cNvPr id="7" name="Text 4"/>
          <p:cNvSpPr txBox="1"/>
          <p:nvPr/>
        </p:nvSpPr>
        <p:spPr>
          <a:xfrm>
            <a:off x="630936" y="2971800"/>
            <a:ext cx="4754880" cy="777240"/>
          </a:xfrm>
          <a:prstGeom prst="rect">
            <a:avLst/>
          </a:prstGeom>
          <a:noFill/>
          <a:ln/>
        </p:spPr>
        <p:txBody>
          <a:bodyPr wrap="square" lIns="0" tIns="0" rIns="0" bIns="0" rtlCol="0" anchor="t"/>
          <a:lstStyle/>
          <a:p>
            <a:pPr indent="0" marL="0">
              <a:spcAft>
                <a:spcPts val="600"/>
              </a:spcAft>
              <a:buNone/>
            </a:pPr>
            <a:r>
              <a:rPr lang="en-US" sz="1800" dirty="0">
                <a:solidFill>
                  <a:srgbClr val="6B6967"/>
                </a:solidFill>
              </a:rPr>
              <a:t>Team Name: </a:t>
            </a:r>
            <a:pPr indent="0" marL="0">
              <a:spcAft>
                <a:spcPts val="600"/>
              </a:spcAft>
              <a:buNone/>
            </a:pPr>
            <a:r>
              <a:rPr lang="en-US" sz="1800" b="1" dirty="0">
                <a:solidFill>
                  <a:srgbClr val="2F2E2D"/>
                </a:solidFill>
              </a:rPr>
              <a:t>Aeternum</a:t>
            </a:r>
            <a:endParaRPr lang="en-US" sz="1800" dirty="0"/>
          </a:p>
          <a:p>
            <a:pPr indent="0" marL="0">
              <a:spcAft>
                <a:spcPts val="600"/>
              </a:spcAft>
              <a:buNone/>
            </a:pPr>
            <a:r>
              <a:rPr lang="en-US" sz="1800" dirty="0">
                <a:solidFill>
                  <a:srgbClr val="6B6967"/>
                </a:solidFill>
              </a:rPr>
              <a:t>Team Leader: </a:t>
            </a:r>
            <a:pPr indent="0" marL="0">
              <a:spcAft>
                <a:spcPts val="600"/>
              </a:spcAft>
              <a:buNone/>
            </a:pPr>
            <a:r>
              <a:rPr lang="en-US" sz="1800" b="1" dirty="0">
                <a:solidFill>
                  <a:srgbClr val="2F2E2D"/>
                </a:solidFill>
              </a:rPr>
              <a:t>Naveen V Hiremath</a:t>
            </a:r>
            <a:endParaRPr lang="en-US" sz="1800" dirty="0"/>
          </a:p>
        </p:txBody>
      </p:sp>
      <p:sp>
        <p:nvSpPr>
          <p:cNvPr id="8" name="Shape 5"/>
          <p:cNvSpPr/>
          <p:nvPr/>
        </p:nvSpPr>
        <p:spPr>
          <a:xfrm>
            <a:off x="429768" y="5010912"/>
            <a:ext cx="3840480" cy="27432"/>
          </a:xfrm>
          <a:prstGeom prst="rect">
            <a:avLst/>
          </a:prstGeom>
          <a:solidFill>
            <a:srgbClr val="C74634"/>
          </a:solidFill>
          <a:ln w="12700">
            <a:solidFill>
              <a:srgbClr val="C7463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Green panel with doodle lines">    </p:cNvPr>
          <p:cNvPicPr>
            <a:picLocks noChangeAspect="1"/>
          </p:cNvPicPr>
          <p:nvPr/>
        </p:nvPicPr>
        <p:blipFill>
          <a:blip r:embed="rId1"/>
          <a:stretch>
            <a:fillRect/>
          </a:stretch>
        </p:blipFill>
        <p:spPr>
          <a:xfrm>
            <a:off x="0" y="0"/>
            <a:ext cx="1545336" cy="5143500"/>
          </a:xfrm>
          <a:prstGeom prst="rect">
            <a:avLst/>
          </a:prstGeom>
        </p:spPr>
      </p:pic>
      <p:sp>
        <p:nvSpPr>
          <p:cNvPr id="3" name="Text 0"/>
          <p:cNvSpPr txBox="1"/>
          <p:nvPr/>
        </p:nvSpPr>
        <p:spPr>
          <a:xfrm>
            <a:off x="274320" y="548640"/>
            <a:ext cx="1188720" cy="868680"/>
          </a:xfrm>
          <a:prstGeom prst="rect">
            <a:avLst/>
          </a:prstGeom>
          <a:noFill/>
          <a:ln/>
        </p:spPr>
        <p:txBody>
          <a:bodyPr wrap="square" lIns="0" tIns="0" rIns="0" bIns="0" rtlCol="0" anchor="ctr"/>
          <a:lstStyle/>
          <a:p>
            <a:pPr indent="0" marL="0">
              <a:buNone/>
            </a:pPr>
            <a:r>
              <a:rPr lang="en-US" sz="2200" b="1" dirty="0">
                <a:solidFill>
                  <a:srgbClr val="FFFFFF"/>
                </a:solidFill>
              </a:rPr>
              <a:t>Challenge</a:t>
            </a:r>
            <a:endParaRPr lang="en-US" sz="2200" dirty="0"/>
          </a:p>
          <a:p>
            <a:pPr indent="0" marL="0">
              <a:buNone/>
            </a:pPr>
            <a:r>
              <a:rPr lang="en-US" sz="2200" b="1" dirty="0">
                <a:solidFill>
                  <a:srgbClr val="FFFFFF"/>
                </a:solidFill>
              </a:rPr>
              <a:t>brief</a:t>
            </a:r>
            <a:endParaRPr lang="en-US" sz="2200" dirty="0"/>
          </a:p>
        </p:txBody>
      </p:sp>
      <p:sp>
        <p:nvSpPr>
          <p:cNvPr id="4" name="Text 1"/>
          <p:cNvSpPr txBox="1"/>
          <p:nvPr/>
        </p:nvSpPr>
        <p:spPr>
          <a:xfrm>
            <a:off x="1993392" y="914400"/>
            <a:ext cx="6400800" cy="1371600"/>
          </a:xfrm>
          <a:prstGeom prst="rect">
            <a:avLst/>
          </a:prstGeom>
          <a:noFill/>
          <a:ln/>
        </p:spPr>
        <p:txBody>
          <a:bodyPr wrap="square" lIns="0" tIns="0" rIns="0" bIns="0" rtlCol="0" anchor="ctr"/>
          <a:lstStyle/>
          <a:p>
            <a:pPr indent="0" marL="0">
              <a:buNone/>
            </a:pPr>
            <a:r>
              <a:rPr lang="en-US" sz="3000" b="1" dirty="0">
                <a:solidFill>
                  <a:srgbClr val="2F2E2D"/>
                </a:solidFill>
              </a:rPr>
              <a:t>After analyzing the challenge brief, we understand the problem statement</a:t>
            </a:r>
            <a:endParaRPr lang="en-US" sz="3000" dirty="0"/>
          </a:p>
        </p:txBody>
      </p:sp>
      <p:sp>
        <p:nvSpPr>
          <p:cNvPr id="5" name="Shape 2"/>
          <p:cNvSpPr/>
          <p:nvPr/>
        </p:nvSpPr>
        <p:spPr>
          <a:xfrm>
            <a:off x="1993392" y="2468880"/>
            <a:ext cx="475488" cy="32004"/>
          </a:xfrm>
          <a:prstGeom prst="rect">
            <a:avLst/>
          </a:prstGeom>
          <a:solidFill>
            <a:srgbClr val="3F7B64"/>
          </a:solidFill>
          <a:ln w="12700">
            <a:solidFill>
              <a:srgbClr val="3F7B64"/>
            </a:solidFill>
            <a:prstDash val="solid"/>
          </a:ln>
        </p:spPr>
      </p:sp>
      <p:sp>
        <p:nvSpPr>
          <p:cNvPr id="6" name="Text 3"/>
          <p:cNvSpPr txBox="1"/>
          <p:nvPr/>
        </p:nvSpPr>
        <p:spPr>
          <a:xfrm>
            <a:off x="1993392" y="2697480"/>
            <a:ext cx="6309360" cy="1188720"/>
          </a:xfrm>
          <a:prstGeom prst="rect">
            <a:avLst/>
          </a:prstGeom>
          <a:noFill/>
          <a:ln/>
        </p:spPr>
        <p:txBody>
          <a:bodyPr wrap="square" lIns="0" tIns="0" rIns="0" bIns="0" rtlCol="0" anchor="t"/>
          <a:lstStyle/>
          <a:p>
            <a:pPr indent="0" marL="0">
              <a:buNone/>
            </a:pPr>
            <a:r>
              <a:rPr lang="en-US" sz="2000" dirty="0">
                <a:solidFill>
                  <a:srgbClr val="2F2E2D"/>
                </a:solidFill>
              </a:rPr>
              <a:t>Patients visit the hospital and get health checkups. Even after a checkup, doctors are sometimes unable to predict whether a patient is going to have a glucose spike.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2F2E2D"/>
                </a:solidFill>
              </a:rPr>
              <a:t>A checkup does not predict the next spike</a:t>
            </a:r>
            <a:endParaRPr lang="en-US" sz="2800" dirty="0"/>
          </a:p>
        </p:txBody>
      </p:sp>
      <p:sp>
        <p:nvSpPr>
          <p:cNvPr id="3" name="Shape 1"/>
          <p:cNvSpPr/>
          <p:nvPr/>
        </p:nvSpPr>
        <p:spPr>
          <a:xfrm>
            <a:off x="548640" y="1024128"/>
            <a:ext cx="411480" cy="32004"/>
          </a:xfrm>
          <a:prstGeom prst="rect">
            <a:avLst/>
          </a:prstGeom>
          <a:solidFill>
            <a:srgbClr val="3F7B64"/>
          </a:solidFill>
          <a:ln w="12700">
            <a:solidFill>
              <a:srgbClr val="3F7B64"/>
            </a:solidFill>
            <a:prstDash val="solid"/>
          </a:ln>
        </p:spPr>
      </p:sp>
      <p:sp>
        <p:nvSpPr>
          <p:cNvPr id="4" name="Text 2"/>
          <p:cNvSpPr txBox="1"/>
          <p:nvPr/>
        </p:nvSpPr>
        <p:spPr>
          <a:xfrm>
            <a:off x="548640" y="4754880"/>
            <a:ext cx="3657600" cy="228600"/>
          </a:xfrm>
          <a:prstGeom prst="rect">
            <a:avLst/>
          </a:prstGeom>
          <a:noFill/>
          <a:ln/>
        </p:spPr>
        <p:txBody>
          <a:bodyPr wrap="square" lIns="0" tIns="0" rIns="0" bIns="0" rtlCol="0" anchor="ctr"/>
          <a:lstStyle/>
          <a:p>
            <a:pPr indent="0" marL="0">
              <a:buNone/>
            </a:pPr>
            <a:r>
              <a:rPr lang="en-US" sz="1000" dirty="0">
                <a:solidFill>
                  <a:srgbClr val="6B6967"/>
                </a:solidFill>
              </a:rPr>
              <a:t>GlycoTwin | Team Aeternum</a:t>
            </a:r>
            <a:endParaRPr lang="en-US" sz="1000" dirty="0"/>
          </a:p>
        </p:txBody>
      </p:sp>
      <p:sp>
        <p:nvSpPr>
          <p:cNvPr id="5" name="Text 3"/>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1000" dirty="0">
                <a:solidFill>
                  <a:srgbClr val="6B6967"/>
                </a:solidFill>
              </a:rPr>
              <a:t>3</a:t>
            </a:r>
            <a:endParaRPr lang="en-US" sz="1000" dirty="0"/>
          </a:p>
        </p:txBody>
      </p:sp>
      <p:sp>
        <p:nvSpPr>
          <p:cNvPr id="6" name="Shape 4"/>
          <p:cNvSpPr/>
          <p:nvPr/>
        </p:nvSpPr>
        <p:spPr>
          <a:xfrm>
            <a:off x="548640" y="1280160"/>
            <a:ext cx="8046720" cy="914400"/>
          </a:xfrm>
          <a:prstGeom prst="roundRect">
            <a:avLst>
              <a:gd name="adj" fmla="val 8000"/>
            </a:avLst>
          </a:prstGeom>
          <a:solidFill>
            <a:srgbClr val="F2F6F4"/>
          </a:solidFill>
          <a:ln w="12700">
            <a:solidFill>
              <a:srgbClr val="F2F6F4"/>
            </a:solidFill>
            <a:prstDash val="solid"/>
          </a:ln>
        </p:spPr>
      </p:sp>
      <p:sp>
        <p:nvSpPr>
          <p:cNvPr id="7" name="Text 5"/>
          <p:cNvSpPr txBox="1"/>
          <p:nvPr/>
        </p:nvSpPr>
        <p:spPr>
          <a:xfrm>
            <a:off x="731520" y="1280160"/>
            <a:ext cx="2926080" cy="914400"/>
          </a:xfrm>
          <a:prstGeom prst="rect">
            <a:avLst/>
          </a:prstGeom>
          <a:noFill/>
          <a:ln/>
        </p:spPr>
        <p:txBody>
          <a:bodyPr wrap="square" lIns="0" tIns="0" rIns="0" bIns="0" rtlCol="0" anchor="ctr"/>
          <a:lstStyle/>
          <a:p>
            <a:pPr indent="0" marL="0">
              <a:buNone/>
            </a:pPr>
            <a:r>
              <a:rPr lang="en-US" sz="3400" b="1" dirty="0">
                <a:solidFill>
                  <a:srgbClr val="3F7B64"/>
                </a:solidFill>
              </a:rPr>
              <a:t>~101 million</a:t>
            </a:r>
            <a:endParaRPr lang="en-US" sz="3400" dirty="0"/>
          </a:p>
        </p:txBody>
      </p:sp>
      <p:sp>
        <p:nvSpPr>
          <p:cNvPr id="8" name="Text 6"/>
          <p:cNvSpPr txBox="1"/>
          <p:nvPr/>
        </p:nvSpPr>
        <p:spPr>
          <a:xfrm>
            <a:off x="3657600" y="1280160"/>
            <a:ext cx="4754880" cy="914400"/>
          </a:xfrm>
          <a:prstGeom prst="rect">
            <a:avLst/>
          </a:prstGeom>
          <a:noFill/>
          <a:ln/>
        </p:spPr>
        <p:txBody>
          <a:bodyPr wrap="square" lIns="0" tIns="0" rIns="0" bIns="0" rtlCol="0" anchor="ctr"/>
          <a:lstStyle/>
          <a:p>
            <a:pPr indent="0" marL="0">
              <a:buNone/>
            </a:pPr>
            <a:r>
              <a:rPr lang="en-US" sz="1600" dirty="0">
                <a:solidFill>
                  <a:srgbClr val="2F2E2D"/>
                </a:solidFill>
              </a:rPr>
              <a:t>adults in India live with diabetes. A checkup shows today's numbers, not tomorrow's spike.</a:t>
            </a:r>
            <a:endParaRPr lang="en-US" sz="1600" dirty="0"/>
          </a:p>
        </p:txBody>
      </p:sp>
      <p:sp>
        <p:nvSpPr>
          <p:cNvPr id="9" name="Shape 7"/>
          <p:cNvSpPr/>
          <p:nvPr/>
        </p:nvSpPr>
        <p:spPr>
          <a:xfrm>
            <a:off x="1188720" y="3401568"/>
            <a:ext cx="6766560" cy="45720"/>
          </a:xfrm>
          <a:prstGeom prst="rect">
            <a:avLst/>
          </a:prstGeom>
          <a:solidFill>
            <a:srgbClr val="B8B5B2"/>
          </a:solidFill>
          <a:ln w="12700">
            <a:solidFill>
              <a:srgbClr val="B8B5B2"/>
            </a:solidFill>
            <a:prstDash val="solid"/>
          </a:ln>
        </p:spPr>
      </p:sp>
      <p:sp>
        <p:nvSpPr>
          <p:cNvPr id="10" name="Shape 8"/>
          <p:cNvSpPr/>
          <p:nvPr/>
        </p:nvSpPr>
        <p:spPr>
          <a:xfrm>
            <a:off x="685800" y="3154680"/>
            <a:ext cx="548640" cy="548640"/>
          </a:xfrm>
          <a:prstGeom prst="ellipse">
            <a:avLst/>
          </a:prstGeom>
          <a:solidFill>
            <a:srgbClr val="3F7B64"/>
          </a:solidFill>
          <a:ln w="12700">
            <a:solidFill>
              <a:srgbClr val="3F7B64"/>
            </a:solidFill>
            <a:prstDash val="solid"/>
          </a:ln>
        </p:spPr>
      </p:sp>
      <p:sp>
        <p:nvSpPr>
          <p:cNvPr id="11" name="Text 9"/>
          <p:cNvSpPr txBox="1"/>
          <p:nvPr/>
        </p:nvSpPr>
        <p:spPr>
          <a:xfrm>
            <a:off x="685800" y="3154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H</a:t>
            </a:r>
            <a:endParaRPr lang="en-US" sz="1800" dirty="0"/>
          </a:p>
        </p:txBody>
      </p:sp>
      <p:sp>
        <p:nvSpPr>
          <p:cNvPr id="12" name="Shape 10"/>
          <p:cNvSpPr/>
          <p:nvPr/>
        </p:nvSpPr>
        <p:spPr>
          <a:xfrm>
            <a:off x="7909560" y="3154680"/>
            <a:ext cx="548640" cy="548640"/>
          </a:xfrm>
          <a:prstGeom prst="ellipse">
            <a:avLst/>
          </a:prstGeom>
          <a:solidFill>
            <a:srgbClr val="C74634"/>
          </a:solidFill>
          <a:ln w="12700">
            <a:solidFill>
              <a:srgbClr val="C74634"/>
            </a:solidFill>
            <a:prstDash val="solid"/>
          </a:ln>
        </p:spPr>
      </p:sp>
      <p:sp>
        <p:nvSpPr>
          <p:cNvPr id="13" name="Text 11"/>
          <p:cNvSpPr txBox="1"/>
          <p:nvPr/>
        </p:nvSpPr>
        <p:spPr>
          <a:xfrm>
            <a:off x="7909560" y="31546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4" name="Text 12"/>
          <p:cNvSpPr txBox="1"/>
          <p:nvPr/>
        </p:nvSpPr>
        <p:spPr>
          <a:xfrm>
            <a:off x="182880" y="3767328"/>
            <a:ext cx="1554480" cy="274320"/>
          </a:xfrm>
          <a:prstGeom prst="rect">
            <a:avLst/>
          </a:prstGeom>
          <a:noFill/>
          <a:ln/>
        </p:spPr>
        <p:txBody>
          <a:bodyPr wrap="square" lIns="0" tIns="0" rIns="0" bIns="0" rtlCol="0" anchor="ctr"/>
          <a:lstStyle/>
          <a:p>
            <a:pPr algn="ctr" indent="0" marL="0">
              <a:buNone/>
            </a:pPr>
            <a:r>
              <a:rPr lang="en-US" sz="1300" dirty="0">
                <a:solidFill>
                  <a:srgbClr val="6B6967"/>
                </a:solidFill>
              </a:rPr>
              <a:t>Health checkup</a:t>
            </a:r>
            <a:endParaRPr lang="en-US" sz="1300" dirty="0"/>
          </a:p>
        </p:txBody>
      </p:sp>
      <p:sp>
        <p:nvSpPr>
          <p:cNvPr id="15" name="Text 13"/>
          <p:cNvSpPr txBox="1"/>
          <p:nvPr/>
        </p:nvSpPr>
        <p:spPr>
          <a:xfrm>
            <a:off x="7498080" y="3767328"/>
            <a:ext cx="1371600" cy="274320"/>
          </a:xfrm>
          <a:prstGeom prst="rect">
            <a:avLst/>
          </a:prstGeom>
          <a:noFill/>
          <a:ln/>
        </p:spPr>
        <p:txBody>
          <a:bodyPr wrap="square" lIns="0" tIns="0" rIns="0" bIns="0" rtlCol="0" anchor="ctr"/>
          <a:lstStyle/>
          <a:p>
            <a:pPr algn="ctr" indent="0" marL="0">
              <a:buNone/>
            </a:pPr>
            <a:r>
              <a:rPr lang="en-US" sz="1300" dirty="0">
                <a:solidFill>
                  <a:srgbClr val="6B6967"/>
                </a:solidFill>
              </a:rPr>
              <a:t>Emergency</a:t>
            </a:r>
            <a:endParaRPr lang="en-US" sz="1300" dirty="0"/>
          </a:p>
        </p:txBody>
      </p:sp>
      <p:sp>
        <p:nvSpPr>
          <p:cNvPr id="16" name="Shape 14"/>
          <p:cNvSpPr/>
          <p:nvPr/>
        </p:nvSpPr>
        <p:spPr>
          <a:xfrm>
            <a:off x="4023360" y="2743200"/>
            <a:ext cx="1097280" cy="685800"/>
          </a:xfrm>
          <a:prstGeom prst="triangle">
            <a:avLst/>
          </a:prstGeom>
          <a:solidFill>
            <a:srgbClr val="C74634"/>
          </a:solidFill>
          <a:ln w="12700">
            <a:solidFill>
              <a:srgbClr val="C74634"/>
            </a:solidFill>
            <a:prstDash val="solid"/>
          </a:ln>
        </p:spPr>
      </p:sp>
      <p:sp>
        <p:nvSpPr>
          <p:cNvPr id="17" name="Text 15"/>
          <p:cNvSpPr txBox="1"/>
          <p:nvPr/>
        </p:nvSpPr>
        <p:spPr>
          <a:xfrm>
            <a:off x="3200400" y="2377440"/>
            <a:ext cx="2743200" cy="320040"/>
          </a:xfrm>
          <a:prstGeom prst="rect">
            <a:avLst/>
          </a:prstGeom>
          <a:noFill/>
          <a:ln/>
        </p:spPr>
        <p:txBody>
          <a:bodyPr wrap="square" lIns="0" tIns="0" rIns="0" bIns="0" rtlCol="0" anchor="ctr"/>
          <a:lstStyle/>
          <a:p>
            <a:pPr algn="ctr" indent="0" marL="0">
              <a:buNone/>
            </a:pPr>
            <a:r>
              <a:rPr lang="en-US" sz="1800" b="1" dirty="0">
                <a:solidFill>
                  <a:srgbClr val="C74634"/>
                </a:solidFill>
              </a:rPr>
              <a:t>Glucose spike</a:t>
            </a:r>
            <a:endParaRPr lang="en-US" sz="1800" dirty="0"/>
          </a:p>
        </p:txBody>
      </p:sp>
      <p:sp>
        <p:nvSpPr>
          <p:cNvPr id="18" name="Text 16"/>
          <p:cNvSpPr txBox="1"/>
          <p:nvPr/>
        </p:nvSpPr>
        <p:spPr>
          <a:xfrm>
            <a:off x="2743200" y="3611880"/>
            <a:ext cx="3657600" cy="320040"/>
          </a:xfrm>
          <a:prstGeom prst="rect">
            <a:avLst/>
          </a:prstGeom>
          <a:noFill/>
          <a:ln/>
        </p:spPr>
        <p:txBody>
          <a:bodyPr wrap="square" lIns="0" tIns="0" rIns="0" bIns="0" rtlCol="0" anchor="ctr"/>
          <a:lstStyle/>
          <a:p>
            <a:pPr algn="ctr" indent="0" marL="0">
              <a:buNone/>
            </a:pPr>
            <a:r>
              <a:rPr lang="en-US" sz="1600" dirty="0">
                <a:solidFill>
                  <a:srgbClr val="2F2E2D"/>
                </a:solidFill>
              </a:rPr>
              <a:t>The doctor cannot predict it</a:t>
            </a:r>
            <a:endParaRPr lang="en-US" sz="1600" dirty="0"/>
          </a:p>
        </p:txBody>
      </p:sp>
      <p:sp>
        <p:nvSpPr>
          <p:cNvPr id="19" name="Text 17"/>
          <p:cNvSpPr txBox="1"/>
          <p:nvPr/>
        </p:nvSpPr>
        <p:spPr>
          <a:xfrm>
            <a:off x="1371600" y="4114800"/>
            <a:ext cx="6400800" cy="320040"/>
          </a:xfrm>
          <a:prstGeom prst="rect">
            <a:avLst/>
          </a:prstGeom>
          <a:noFill/>
          <a:ln/>
        </p:spPr>
        <p:txBody>
          <a:bodyPr wrap="square" lIns="0" tIns="0" rIns="0" bIns="0" rtlCol="0" anchor="ctr"/>
          <a:lstStyle/>
          <a:p>
            <a:pPr algn="ctr" indent="0" marL="0">
              <a:buNone/>
            </a:pPr>
            <a:r>
              <a:rPr lang="en-US" sz="1500" i="1" dirty="0">
                <a:solidFill>
                  <a:srgbClr val="6B6967"/>
                </a:solidFill>
              </a:rPr>
              <a:t>A checkup shows where the patient is today, not whether a spike is coming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2F2E2D"/>
                </a:solidFill>
              </a:rPr>
              <a:t>What an unpredicted glucose spike can lead to</a:t>
            </a:r>
            <a:endParaRPr lang="en-US" sz="2800" dirty="0"/>
          </a:p>
        </p:txBody>
      </p:sp>
      <p:sp>
        <p:nvSpPr>
          <p:cNvPr id="3" name="Shape 1"/>
          <p:cNvSpPr/>
          <p:nvPr/>
        </p:nvSpPr>
        <p:spPr>
          <a:xfrm>
            <a:off x="548640" y="1024128"/>
            <a:ext cx="411480" cy="32004"/>
          </a:xfrm>
          <a:prstGeom prst="rect">
            <a:avLst/>
          </a:prstGeom>
          <a:solidFill>
            <a:srgbClr val="3F7B64"/>
          </a:solidFill>
          <a:ln w="12700">
            <a:solidFill>
              <a:srgbClr val="3F7B64"/>
            </a:solidFill>
            <a:prstDash val="solid"/>
          </a:ln>
        </p:spPr>
      </p:sp>
      <p:sp>
        <p:nvSpPr>
          <p:cNvPr id="4" name="Text 2"/>
          <p:cNvSpPr txBox="1"/>
          <p:nvPr/>
        </p:nvSpPr>
        <p:spPr>
          <a:xfrm>
            <a:off x="548640" y="4754880"/>
            <a:ext cx="3657600" cy="228600"/>
          </a:xfrm>
          <a:prstGeom prst="rect">
            <a:avLst/>
          </a:prstGeom>
          <a:noFill/>
          <a:ln/>
        </p:spPr>
        <p:txBody>
          <a:bodyPr wrap="square" lIns="0" tIns="0" rIns="0" bIns="0" rtlCol="0" anchor="ctr"/>
          <a:lstStyle/>
          <a:p>
            <a:pPr indent="0" marL="0">
              <a:buNone/>
            </a:pPr>
            <a:r>
              <a:rPr lang="en-US" sz="1000" dirty="0">
                <a:solidFill>
                  <a:srgbClr val="6B6967"/>
                </a:solidFill>
              </a:rPr>
              <a:t>GlycoTwin | Team Aeternum</a:t>
            </a:r>
            <a:endParaRPr lang="en-US" sz="1000" dirty="0"/>
          </a:p>
        </p:txBody>
      </p:sp>
      <p:sp>
        <p:nvSpPr>
          <p:cNvPr id="5" name="Text 3"/>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1000" dirty="0">
                <a:solidFill>
                  <a:srgbClr val="6B6967"/>
                </a:solidFill>
              </a:rPr>
              <a:t>4</a:t>
            </a:r>
            <a:endParaRPr lang="en-US" sz="1000" dirty="0"/>
          </a:p>
        </p:txBody>
      </p:sp>
      <p:sp>
        <p:nvSpPr>
          <p:cNvPr id="6" name="Shape 4"/>
          <p:cNvSpPr/>
          <p:nvPr/>
        </p:nvSpPr>
        <p:spPr>
          <a:xfrm>
            <a:off x="548640" y="1280160"/>
            <a:ext cx="2560320" cy="2971800"/>
          </a:xfrm>
          <a:prstGeom prst="roundRect">
            <a:avLst>
              <a:gd name="adj" fmla="val 2857"/>
            </a:avLst>
          </a:prstGeom>
          <a:solidFill>
            <a:srgbClr val="F2F6F4"/>
          </a:solidFill>
          <a:ln w="12700">
            <a:solidFill>
              <a:srgbClr val="F2F6F4"/>
            </a:solidFill>
            <a:prstDash val="solid"/>
          </a:ln>
        </p:spPr>
      </p:sp>
      <p:sp>
        <p:nvSpPr>
          <p:cNvPr id="7" name="Text 5"/>
          <p:cNvSpPr txBox="1"/>
          <p:nvPr/>
        </p:nvSpPr>
        <p:spPr>
          <a:xfrm>
            <a:off x="731520" y="1417320"/>
            <a:ext cx="2194560" cy="365760"/>
          </a:xfrm>
          <a:prstGeom prst="rect">
            <a:avLst/>
          </a:prstGeom>
          <a:noFill/>
          <a:ln/>
        </p:spPr>
        <p:txBody>
          <a:bodyPr wrap="square" lIns="0" tIns="0" rIns="0" bIns="0" rtlCol="0" anchor="ctr"/>
          <a:lstStyle/>
          <a:p>
            <a:pPr indent="0" marL="0">
              <a:buNone/>
            </a:pPr>
            <a:r>
              <a:rPr lang="en-US" sz="1700" b="1" dirty="0">
                <a:solidFill>
                  <a:srgbClr val="3F7B64"/>
                </a:solidFill>
              </a:rPr>
              <a:t>Early warning signs</a:t>
            </a:r>
            <a:endParaRPr lang="en-US" sz="1700" dirty="0"/>
          </a:p>
        </p:txBody>
      </p:sp>
      <p:sp>
        <p:nvSpPr>
          <p:cNvPr id="8" name="Text 6"/>
          <p:cNvSpPr txBox="1"/>
          <p:nvPr/>
        </p:nvSpPr>
        <p:spPr>
          <a:xfrm>
            <a:off x="731520" y="1920240"/>
            <a:ext cx="2240280" cy="22402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F2E2D"/>
                </a:solidFill>
              </a:rPr>
              <a:t>Urinating often</a:t>
            </a:r>
            <a:endParaRPr lang="en-US" sz="1400" dirty="0"/>
          </a:p>
          <a:p>
            <a:pPr marL="342900" indent="-342900">
              <a:spcAft>
                <a:spcPts val="500"/>
              </a:spcAft>
              <a:buSzPct val="100000"/>
              <a:buChar char="•"/>
            </a:pPr>
            <a:r>
              <a:rPr lang="en-US" sz="1400" dirty="0">
                <a:solidFill>
                  <a:srgbClr val="2F2E2D"/>
                </a:solidFill>
              </a:rPr>
              <a:t>Very thirsty</a:t>
            </a:r>
            <a:endParaRPr lang="en-US" sz="1400" dirty="0"/>
          </a:p>
          <a:p>
            <a:pPr marL="342900" indent="-342900">
              <a:spcAft>
                <a:spcPts val="500"/>
              </a:spcAft>
              <a:buSzPct val="100000"/>
              <a:buChar char="•"/>
            </a:pPr>
            <a:r>
              <a:rPr lang="en-US" sz="1400" dirty="0">
                <a:solidFill>
                  <a:srgbClr val="2F2E2D"/>
                </a:solidFill>
              </a:rPr>
              <a:t>Blurred vision</a:t>
            </a:r>
            <a:endParaRPr lang="en-US" sz="1400" dirty="0"/>
          </a:p>
          <a:p>
            <a:pPr marL="342900" indent="-342900">
              <a:spcAft>
                <a:spcPts val="500"/>
              </a:spcAft>
              <a:buSzPct val="100000"/>
              <a:buChar char="•"/>
            </a:pPr>
            <a:r>
              <a:rPr lang="en-US" sz="1400" dirty="0">
                <a:solidFill>
                  <a:srgbClr val="2F2E2D"/>
                </a:solidFill>
              </a:rPr>
              <a:t>Weak or unusually tired</a:t>
            </a:r>
            <a:endParaRPr lang="en-US" sz="1400" dirty="0"/>
          </a:p>
        </p:txBody>
      </p:sp>
      <p:sp>
        <p:nvSpPr>
          <p:cNvPr id="9" name="Shape 7"/>
          <p:cNvSpPr/>
          <p:nvPr/>
        </p:nvSpPr>
        <p:spPr>
          <a:xfrm>
            <a:off x="3291840" y="1280160"/>
            <a:ext cx="2560320" cy="2971800"/>
          </a:xfrm>
          <a:prstGeom prst="roundRect">
            <a:avLst>
              <a:gd name="adj" fmla="val 2857"/>
            </a:avLst>
          </a:prstGeom>
          <a:solidFill>
            <a:srgbClr val="FBEEEA"/>
          </a:solidFill>
          <a:ln w="12700">
            <a:solidFill>
              <a:srgbClr val="FBEEEA"/>
            </a:solidFill>
            <a:prstDash val="solid"/>
          </a:ln>
        </p:spPr>
      </p:sp>
      <p:sp>
        <p:nvSpPr>
          <p:cNvPr id="10" name="Text 8"/>
          <p:cNvSpPr txBox="1"/>
          <p:nvPr/>
        </p:nvSpPr>
        <p:spPr>
          <a:xfrm>
            <a:off x="3474720" y="1417320"/>
            <a:ext cx="2194560" cy="365760"/>
          </a:xfrm>
          <a:prstGeom prst="rect">
            <a:avLst/>
          </a:prstGeom>
          <a:noFill/>
          <a:ln/>
        </p:spPr>
        <p:txBody>
          <a:bodyPr wrap="square" lIns="0" tIns="0" rIns="0" bIns="0" rtlCol="0" anchor="ctr"/>
          <a:lstStyle/>
          <a:p>
            <a:pPr indent="0" marL="0">
              <a:buNone/>
            </a:pPr>
            <a:r>
              <a:rPr lang="en-US" sz="1700" b="1" dirty="0">
                <a:solidFill>
                  <a:srgbClr val="C74634"/>
                </a:solidFill>
              </a:rPr>
              <a:t>Medical emergencies</a:t>
            </a:r>
            <a:endParaRPr lang="en-US" sz="1700" dirty="0"/>
          </a:p>
        </p:txBody>
      </p:sp>
      <p:sp>
        <p:nvSpPr>
          <p:cNvPr id="11" name="Text 9"/>
          <p:cNvSpPr txBox="1"/>
          <p:nvPr/>
        </p:nvSpPr>
        <p:spPr>
          <a:xfrm>
            <a:off x="3474720" y="1920240"/>
            <a:ext cx="2240280" cy="22402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F2E2D"/>
                </a:solidFill>
              </a:rPr>
              <a:t>Diabetic ketoacidosis: toxic ketones can lead to coma</a:t>
            </a:r>
            <a:endParaRPr lang="en-US" sz="1400" dirty="0"/>
          </a:p>
          <a:p>
            <a:pPr marL="342900" indent="-342900">
              <a:spcAft>
                <a:spcPts val="500"/>
              </a:spcAft>
              <a:buSzPct val="100000"/>
              <a:buChar char="•"/>
            </a:pPr>
            <a:r>
              <a:rPr lang="en-US" sz="1400" dirty="0">
                <a:solidFill>
                  <a:srgbClr val="2F2E2D"/>
                </a:solidFill>
              </a:rPr>
              <a:t>Hyperosmolar state: severe dehydration, possible coma</a:t>
            </a:r>
            <a:endParaRPr lang="en-US" sz="1400" dirty="0"/>
          </a:p>
          <a:p>
            <a:pPr marL="342900" indent="-342900">
              <a:spcAft>
                <a:spcPts val="500"/>
              </a:spcAft>
              <a:buSzPct val="100000"/>
              <a:buChar char="•"/>
            </a:pPr>
            <a:r>
              <a:rPr lang="en-US" sz="1400" dirty="0">
                <a:solidFill>
                  <a:srgbClr val="2F2E2D"/>
                </a:solidFill>
              </a:rPr>
              <a:t>Vomiting, confusion, passing out</a:t>
            </a:r>
            <a:endParaRPr lang="en-US" sz="1400" dirty="0"/>
          </a:p>
        </p:txBody>
      </p:sp>
      <p:sp>
        <p:nvSpPr>
          <p:cNvPr id="12" name="Shape 10"/>
          <p:cNvSpPr/>
          <p:nvPr/>
        </p:nvSpPr>
        <p:spPr>
          <a:xfrm>
            <a:off x="6035040" y="1280160"/>
            <a:ext cx="2560320" cy="2971800"/>
          </a:xfrm>
          <a:prstGeom prst="roundRect">
            <a:avLst>
              <a:gd name="adj" fmla="val 2857"/>
            </a:avLst>
          </a:prstGeom>
          <a:solidFill>
            <a:srgbClr val="F2F6F4"/>
          </a:solidFill>
          <a:ln w="12700">
            <a:solidFill>
              <a:srgbClr val="F2F6F4"/>
            </a:solidFill>
            <a:prstDash val="solid"/>
          </a:ln>
        </p:spPr>
      </p:sp>
      <p:sp>
        <p:nvSpPr>
          <p:cNvPr id="13" name="Text 11"/>
          <p:cNvSpPr txBox="1"/>
          <p:nvPr/>
        </p:nvSpPr>
        <p:spPr>
          <a:xfrm>
            <a:off x="6217920" y="1417320"/>
            <a:ext cx="2194560" cy="365760"/>
          </a:xfrm>
          <a:prstGeom prst="rect">
            <a:avLst/>
          </a:prstGeom>
          <a:noFill/>
          <a:ln/>
        </p:spPr>
        <p:txBody>
          <a:bodyPr wrap="square" lIns="0" tIns="0" rIns="0" bIns="0" rtlCol="0" anchor="ctr"/>
          <a:lstStyle/>
          <a:p>
            <a:pPr indent="0" marL="0">
              <a:buNone/>
            </a:pPr>
            <a:r>
              <a:rPr lang="en-US" sz="1700" b="1" dirty="0">
                <a:solidFill>
                  <a:srgbClr val="3F7B64"/>
                </a:solidFill>
              </a:rPr>
              <a:t>If glucose stays high</a:t>
            </a:r>
            <a:endParaRPr lang="en-US" sz="1700" dirty="0"/>
          </a:p>
        </p:txBody>
      </p:sp>
      <p:sp>
        <p:nvSpPr>
          <p:cNvPr id="14" name="Text 12"/>
          <p:cNvSpPr txBox="1"/>
          <p:nvPr/>
        </p:nvSpPr>
        <p:spPr>
          <a:xfrm>
            <a:off x="6217920" y="1920240"/>
            <a:ext cx="2240280" cy="22402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F2E2D"/>
                </a:solidFill>
              </a:rPr>
              <a:t>Heart and blood vessel disease</a:t>
            </a:r>
            <a:endParaRPr lang="en-US" sz="1400" dirty="0"/>
          </a:p>
          <a:p>
            <a:pPr marL="342900" indent="-342900">
              <a:spcAft>
                <a:spcPts val="500"/>
              </a:spcAft>
              <a:buSzPct val="100000"/>
              <a:buChar char="•"/>
            </a:pPr>
            <a:r>
              <a:rPr lang="en-US" sz="1400" dirty="0">
                <a:solidFill>
                  <a:srgbClr val="2F2E2D"/>
                </a:solidFill>
              </a:rPr>
              <a:t>Nerve damage</a:t>
            </a:r>
            <a:endParaRPr lang="en-US" sz="1400" dirty="0"/>
          </a:p>
          <a:p>
            <a:pPr marL="342900" indent="-342900">
              <a:spcAft>
                <a:spcPts val="500"/>
              </a:spcAft>
              <a:buSzPct val="100000"/>
              <a:buChar char="•"/>
            </a:pPr>
            <a:r>
              <a:rPr lang="en-US" sz="1400" dirty="0">
                <a:solidFill>
                  <a:srgbClr val="2F2E2D"/>
                </a:solidFill>
              </a:rPr>
              <a:t>Kidney damage or failure</a:t>
            </a:r>
            <a:endParaRPr lang="en-US" sz="1400" dirty="0"/>
          </a:p>
          <a:p>
            <a:pPr marL="342900" indent="-342900">
              <a:spcAft>
                <a:spcPts val="500"/>
              </a:spcAft>
              <a:buSzPct val="100000"/>
              <a:buChar char="•"/>
            </a:pPr>
            <a:r>
              <a:rPr lang="en-US" sz="1400" dirty="0">
                <a:solidFill>
                  <a:srgbClr val="2F2E2D"/>
                </a:solidFill>
              </a:rPr>
              <a:t>Retinal damage, blindness</a:t>
            </a:r>
            <a:endParaRPr lang="en-US" sz="1400" dirty="0"/>
          </a:p>
          <a:p>
            <a:pPr marL="342900" indent="-342900">
              <a:spcAft>
                <a:spcPts val="500"/>
              </a:spcAft>
              <a:buSzPct val="100000"/>
              <a:buChar char="•"/>
            </a:pPr>
            <a:r>
              <a:rPr lang="en-US" sz="1400" dirty="0">
                <a:solidFill>
                  <a:srgbClr val="2F2E2D"/>
                </a:solidFill>
              </a:rPr>
              <a:t>Foot ulcers, amputation</a:t>
            </a:r>
            <a:endParaRPr lang="en-US" sz="1400" dirty="0"/>
          </a:p>
        </p:txBody>
      </p:sp>
      <p:sp>
        <p:nvSpPr>
          <p:cNvPr id="15" name="Text 13"/>
          <p:cNvSpPr txBox="1"/>
          <p:nvPr/>
        </p:nvSpPr>
        <p:spPr>
          <a:xfrm>
            <a:off x="548640" y="4389120"/>
            <a:ext cx="8046720" cy="228600"/>
          </a:xfrm>
          <a:prstGeom prst="rect">
            <a:avLst/>
          </a:prstGeom>
          <a:noFill/>
          <a:ln/>
        </p:spPr>
        <p:txBody>
          <a:bodyPr wrap="square" lIns="0" tIns="0" rIns="0" bIns="0" rtlCol="0" anchor="ctr"/>
          <a:lstStyle/>
          <a:p>
            <a:pPr indent="0" marL="0">
              <a:buNone/>
            </a:pPr>
            <a:r>
              <a:rPr lang="en-US" sz="1000" dirty="0">
                <a:solidFill>
                  <a:srgbClr val="6B6967"/>
                </a:solidFill>
              </a:rPr>
              <a:t>Source: Mayo Clinic, Hyperglycemia in diabetes (mayoclinic.org)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2F2E2D"/>
                </a:solidFill>
              </a:rPr>
              <a:t>Our solution: GlycoTwin</a:t>
            </a:r>
            <a:endParaRPr lang="en-US" sz="2800" dirty="0"/>
          </a:p>
        </p:txBody>
      </p:sp>
      <p:sp>
        <p:nvSpPr>
          <p:cNvPr id="3" name="Shape 1"/>
          <p:cNvSpPr/>
          <p:nvPr/>
        </p:nvSpPr>
        <p:spPr>
          <a:xfrm>
            <a:off x="548640" y="1024128"/>
            <a:ext cx="411480" cy="32004"/>
          </a:xfrm>
          <a:prstGeom prst="rect">
            <a:avLst/>
          </a:prstGeom>
          <a:solidFill>
            <a:srgbClr val="3F7B64"/>
          </a:solidFill>
          <a:ln w="12700">
            <a:solidFill>
              <a:srgbClr val="3F7B64"/>
            </a:solidFill>
            <a:prstDash val="solid"/>
          </a:ln>
        </p:spPr>
      </p:sp>
      <p:sp>
        <p:nvSpPr>
          <p:cNvPr id="4" name="Text 2"/>
          <p:cNvSpPr txBox="1"/>
          <p:nvPr/>
        </p:nvSpPr>
        <p:spPr>
          <a:xfrm>
            <a:off x="548640" y="4754880"/>
            <a:ext cx="3657600" cy="228600"/>
          </a:xfrm>
          <a:prstGeom prst="rect">
            <a:avLst/>
          </a:prstGeom>
          <a:noFill/>
          <a:ln/>
        </p:spPr>
        <p:txBody>
          <a:bodyPr wrap="square" lIns="0" tIns="0" rIns="0" bIns="0" rtlCol="0" anchor="ctr"/>
          <a:lstStyle/>
          <a:p>
            <a:pPr indent="0" marL="0">
              <a:buNone/>
            </a:pPr>
            <a:r>
              <a:rPr lang="en-US" sz="1000" dirty="0">
                <a:solidFill>
                  <a:srgbClr val="6B6967"/>
                </a:solidFill>
              </a:rPr>
              <a:t>GlycoTwin | Team Aeternum</a:t>
            </a:r>
            <a:endParaRPr lang="en-US" sz="1000" dirty="0"/>
          </a:p>
        </p:txBody>
      </p:sp>
      <p:sp>
        <p:nvSpPr>
          <p:cNvPr id="5" name="Text 3"/>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1000" dirty="0">
                <a:solidFill>
                  <a:srgbClr val="6B6967"/>
                </a:solidFill>
              </a:rPr>
              <a:t>5</a:t>
            </a:r>
            <a:endParaRPr lang="en-US" sz="1000" dirty="0"/>
          </a:p>
        </p:txBody>
      </p:sp>
      <p:sp>
        <p:nvSpPr>
          <p:cNvPr id="6" name="Text 4"/>
          <p:cNvSpPr txBox="1"/>
          <p:nvPr/>
        </p:nvSpPr>
        <p:spPr>
          <a:xfrm>
            <a:off x="548640" y="1234440"/>
            <a:ext cx="8046720" cy="457200"/>
          </a:xfrm>
          <a:prstGeom prst="rect">
            <a:avLst/>
          </a:prstGeom>
          <a:noFill/>
          <a:ln/>
        </p:spPr>
        <p:txBody>
          <a:bodyPr wrap="square" lIns="0" tIns="0" rIns="0" bIns="0" rtlCol="0" anchor="ctr"/>
          <a:lstStyle/>
          <a:p>
            <a:pPr indent="0" marL="0">
              <a:buNone/>
            </a:pPr>
            <a:r>
              <a:rPr lang="en-US" sz="2000" dirty="0">
                <a:solidFill>
                  <a:srgbClr val="6B6967"/>
                </a:solidFill>
              </a:rPr>
              <a:t>Helps the doctor monitor patients and spot a likely spike, 24/7</a:t>
            </a:r>
            <a:endParaRPr lang="en-US" sz="2000" dirty="0"/>
          </a:p>
        </p:txBody>
      </p:sp>
      <p:sp>
        <p:nvSpPr>
          <p:cNvPr id="7" name="Shape 5"/>
          <p:cNvSpPr/>
          <p:nvPr/>
        </p:nvSpPr>
        <p:spPr>
          <a:xfrm>
            <a:off x="548640" y="1874520"/>
            <a:ext cx="2560320" cy="1965960"/>
          </a:xfrm>
          <a:prstGeom prst="roundRect">
            <a:avLst>
              <a:gd name="adj" fmla="val 3721"/>
            </a:avLst>
          </a:prstGeom>
          <a:solidFill>
            <a:srgbClr val="F2F6F4"/>
          </a:solidFill>
          <a:ln w="12700">
            <a:solidFill>
              <a:srgbClr val="F2F6F4"/>
            </a:solidFill>
            <a:prstDash val="solid"/>
          </a:ln>
        </p:spPr>
      </p:sp>
      <p:sp>
        <p:nvSpPr>
          <p:cNvPr id="8" name="Shape 6"/>
          <p:cNvSpPr/>
          <p:nvPr/>
        </p:nvSpPr>
        <p:spPr>
          <a:xfrm>
            <a:off x="731520" y="2011680"/>
            <a:ext cx="384048" cy="384048"/>
          </a:xfrm>
          <a:prstGeom prst="ellipse">
            <a:avLst/>
          </a:prstGeom>
          <a:solidFill>
            <a:srgbClr val="3F7B64"/>
          </a:solidFill>
          <a:ln w="12700">
            <a:solidFill>
              <a:srgbClr val="3F7B64"/>
            </a:solidFill>
            <a:prstDash val="solid"/>
          </a:ln>
        </p:spPr>
      </p:sp>
      <p:sp>
        <p:nvSpPr>
          <p:cNvPr id="9" name="Text 7"/>
          <p:cNvSpPr txBox="1"/>
          <p:nvPr/>
        </p:nvSpPr>
        <p:spPr>
          <a:xfrm>
            <a:off x="731520" y="20116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10" name="Text 8"/>
          <p:cNvSpPr txBox="1"/>
          <p:nvPr/>
        </p:nvSpPr>
        <p:spPr>
          <a:xfrm>
            <a:off x="1234440" y="2011680"/>
            <a:ext cx="1737360" cy="384048"/>
          </a:xfrm>
          <a:prstGeom prst="rect">
            <a:avLst/>
          </a:prstGeom>
          <a:noFill/>
          <a:ln/>
        </p:spPr>
        <p:txBody>
          <a:bodyPr wrap="square" lIns="0" tIns="0" rIns="0" bIns="0" rtlCol="0" anchor="ctr"/>
          <a:lstStyle/>
          <a:p>
            <a:pPr indent="0" marL="0">
              <a:buNone/>
            </a:pPr>
            <a:r>
              <a:rPr lang="en-US" sz="1800" b="1" dirty="0">
                <a:solidFill>
                  <a:srgbClr val="2F2E2D"/>
                </a:solidFill>
              </a:rPr>
              <a:t>Join</a:t>
            </a:r>
            <a:endParaRPr lang="en-US" sz="1800" dirty="0"/>
          </a:p>
        </p:txBody>
      </p:sp>
      <p:sp>
        <p:nvSpPr>
          <p:cNvPr id="11" name="Text 9"/>
          <p:cNvSpPr txBox="1"/>
          <p:nvPr/>
        </p:nvSpPr>
        <p:spPr>
          <a:xfrm>
            <a:off x="731520" y="2560320"/>
            <a:ext cx="2240280" cy="1188720"/>
          </a:xfrm>
          <a:prstGeom prst="rect">
            <a:avLst/>
          </a:prstGeom>
          <a:noFill/>
          <a:ln/>
        </p:spPr>
        <p:txBody>
          <a:bodyPr wrap="square" lIns="0" tIns="0" rIns="0" bIns="0" rtlCol="0" anchor="t"/>
          <a:lstStyle/>
          <a:p>
            <a:pPr indent="0" marL="0">
              <a:buNone/>
            </a:pPr>
            <a:r>
              <a:rPr lang="en-US" sz="1400" dirty="0">
                <a:solidFill>
                  <a:srgbClr val="2F2E2D"/>
                </a:solidFill>
              </a:rPr>
              <a:t>One patient's clinic record and 14-day wearable trace, joined by patient id</a:t>
            </a:r>
            <a:endParaRPr lang="en-US" sz="1400" dirty="0"/>
          </a:p>
        </p:txBody>
      </p:sp>
      <p:sp>
        <p:nvSpPr>
          <p:cNvPr id="12" name="Shape 10"/>
          <p:cNvSpPr/>
          <p:nvPr/>
        </p:nvSpPr>
        <p:spPr>
          <a:xfrm>
            <a:off x="3291840" y="1874520"/>
            <a:ext cx="2560320" cy="1965960"/>
          </a:xfrm>
          <a:prstGeom prst="roundRect">
            <a:avLst>
              <a:gd name="adj" fmla="val 3721"/>
            </a:avLst>
          </a:prstGeom>
          <a:solidFill>
            <a:srgbClr val="F2F6F4"/>
          </a:solidFill>
          <a:ln w="12700">
            <a:solidFill>
              <a:srgbClr val="F2F6F4"/>
            </a:solidFill>
            <a:prstDash val="solid"/>
          </a:ln>
        </p:spPr>
      </p:sp>
      <p:sp>
        <p:nvSpPr>
          <p:cNvPr id="13" name="Shape 11"/>
          <p:cNvSpPr/>
          <p:nvPr/>
        </p:nvSpPr>
        <p:spPr>
          <a:xfrm>
            <a:off x="3474720" y="2011680"/>
            <a:ext cx="384048" cy="384048"/>
          </a:xfrm>
          <a:prstGeom prst="ellipse">
            <a:avLst/>
          </a:prstGeom>
          <a:solidFill>
            <a:srgbClr val="3F7B64"/>
          </a:solidFill>
          <a:ln w="12700">
            <a:solidFill>
              <a:srgbClr val="3F7B64"/>
            </a:solidFill>
            <a:prstDash val="solid"/>
          </a:ln>
        </p:spPr>
      </p:sp>
      <p:sp>
        <p:nvSpPr>
          <p:cNvPr id="14" name="Text 12"/>
          <p:cNvSpPr txBox="1"/>
          <p:nvPr/>
        </p:nvSpPr>
        <p:spPr>
          <a:xfrm>
            <a:off x="3474720" y="20116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5" name="Text 13"/>
          <p:cNvSpPr txBox="1"/>
          <p:nvPr/>
        </p:nvSpPr>
        <p:spPr>
          <a:xfrm>
            <a:off x="3977640" y="2011680"/>
            <a:ext cx="1737360" cy="384048"/>
          </a:xfrm>
          <a:prstGeom prst="rect">
            <a:avLst/>
          </a:prstGeom>
          <a:noFill/>
          <a:ln/>
        </p:spPr>
        <p:txBody>
          <a:bodyPr wrap="square" lIns="0" tIns="0" rIns="0" bIns="0" rtlCol="0" anchor="ctr"/>
          <a:lstStyle/>
          <a:p>
            <a:pPr indent="0" marL="0">
              <a:buNone/>
            </a:pPr>
            <a:r>
              <a:rPr lang="en-US" sz="1800" b="1" dirty="0">
                <a:solidFill>
                  <a:srgbClr val="2F2E2D"/>
                </a:solidFill>
              </a:rPr>
              <a:t>Predict</a:t>
            </a:r>
            <a:endParaRPr lang="en-US" sz="1800" dirty="0"/>
          </a:p>
        </p:txBody>
      </p:sp>
      <p:sp>
        <p:nvSpPr>
          <p:cNvPr id="16" name="Text 14"/>
          <p:cNvSpPr txBox="1"/>
          <p:nvPr/>
        </p:nvSpPr>
        <p:spPr>
          <a:xfrm>
            <a:off x="3474720" y="2560320"/>
            <a:ext cx="2240280" cy="1188720"/>
          </a:xfrm>
          <a:prstGeom prst="rect">
            <a:avLst/>
          </a:prstGeom>
          <a:noFill/>
          <a:ln/>
        </p:spPr>
        <p:txBody>
          <a:bodyPr wrap="square" lIns="0" tIns="0" rIns="0" bIns="0" rtlCol="0" anchor="t"/>
          <a:lstStyle/>
          <a:p>
            <a:pPr indent="0" marL="0">
              <a:buNone/>
            </a:pPr>
            <a:r>
              <a:rPr lang="en-US" sz="1400" dirty="0">
                <a:solidFill>
                  <a:srgbClr val="2F2E2D"/>
                </a:solidFill>
              </a:rPr>
              <a:t>The chance that glucose reaches 180 mg/dL in the next 2 hours, refreshed every 30 minutes, 24/7</a:t>
            </a:r>
            <a:endParaRPr lang="en-US" sz="1400" dirty="0"/>
          </a:p>
        </p:txBody>
      </p:sp>
      <p:sp>
        <p:nvSpPr>
          <p:cNvPr id="17" name="Shape 15"/>
          <p:cNvSpPr/>
          <p:nvPr/>
        </p:nvSpPr>
        <p:spPr>
          <a:xfrm>
            <a:off x="6035040" y="1874520"/>
            <a:ext cx="2560320" cy="1965960"/>
          </a:xfrm>
          <a:prstGeom prst="roundRect">
            <a:avLst>
              <a:gd name="adj" fmla="val 3721"/>
            </a:avLst>
          </a:prstGeom>
          <a:solidFill>
            <a:srgbClr val="F2F6F4"/>
          </a:solidFill>
          <a:ln w="12700">
            <a:solidFill>
              <a:srgbClr val="F2F6F4"/>
            </a:solidFill>
            <a:prstDash val="solid"/>
          </a:ln>
        </p:spPr>
      </p:sp>
      <p:sp>
        <p:nvSpPr>
          <p:cNvPr id="18" name="Shape 16"/>
          <p:cNvSpPr/>
          <p:nvPr/>
        </p:nvSpPr>
        <p:spPr>
          <a:xfrm>
            <a:off x="6217920" y="2011680"/>
            <a:ext cx="384048" cy="384048"/>
          </a:xfrm>
          <a:prstGeom prst="ellipse">
            <a:avLst/>
          </a:prstGeom>
          <a:solidFill>
            <a:srgbClr val="C74634"/>
          </a:solidFill>
          <a:ln w="12700">
            <a:solidFill>
              <a:srgbClr val="C74634"/>
            </a:solidFill>
            <a:prstDash val="solid"/>
          </a:ln>
        </p:spPr>
      </p:sp>
      <p:sp>
        <p:nvSpPr>
          <p:cNvPr id="19" name="Text 17"/>
          <p:cNvSpPr txBox="1"/>
          <p:nvPr/>
        </p:nvSpPr>
        <p:spPr>
          <a:xfrm>
            <a:off x="6217920" y="20116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0" name="Text 18"/>
          <p:cNvSpPr txBox="1"/>
          <p:nvPr/>
        </p:nvSpPr>
        <p:spPr>
          <a:xfrm>
            <a:off x="6720840" y="2011680"/>
            <a:ext cx="1737360" cy="384048"/>
          </a:xfrm>
          <a:prstGeom prst="rect">
            <a:avLst/>
          </a:prstGeom>
          <a:noFill/>
          <a:ln/>
        </p:spPr>
        <p:txBody>
          <a:bodyPr wrap="square" lIns="0" tIns="0" rIns="0" bIns="0" rtlCol="0" anchor="ctr"/>
          <a:lstStyle/>
          <a:p>
            <a:pPr indent="0" marL="0">
              <a:buNone/>
            </a:pPr>
            <a:r>
              <a:rPr lang="en-US" sz="1800" b="1" dirty="0">
                <a:solidFill>
                  <a:srgbClr val="2F2E2D"/>
                </a:solidFill>
              </a:rPr>
              <a:t>Alert</a:t>
            </a:r>
            <a:endParaRPr lang="en-US" sz="1800" dirty="0"/>
          </a:p>
        </p:txBody>
      </p:sp>
      <p:sp>
        <p:nvSpPr>
          <p:cNvPr id="21" name="Text 19"/>
          <p:cNvSpPr txBox="1"/>
          <p:nvPr/>
        </p:nvSpPr>
        <p:spPr>
          <a:xfrm>
            <a:off x="6217920" y="2560320"/>
            <a:ext cx="2240280" cy="1188720"/>
          </a:xfrm>
          <a:prstGeom prst="rect">
            <a:avLst/>
          </a:prstGeom>
          <a:noFill/>
          <a:ln/>
        </p:spPr>
        <p:txBody>
          <a:bodyPr wrap="square" lIns="0" tIns="0" rIns="0" bIns="0" rtlCol="0" anchor="t"/>
          <a:lstStyle/>
          <a:p>
            <a:pPr indent="0" marL="0">
              <a:buNone/>
            </a:pPr>
            <a:r>
              <a:rPr lang="en-US" sz="1400" dirty="0">
                <a:solidFill>
                  <a:srgbClr val="2F2E2D"/>
                </a:solidFill>
              </a:rPr>
              <a:t>The care team is alerted at 60% risk, with the reasons. The doctor sees only escalated patients</a:t>
            </a:r>
            <a:endParaRPr lang="en-US" sz="1400" dirty="0"/>
          </a:p>
        </p:txBody>
      </p:sp>
      <p:sp>
        <p:nvSpPr>
          <p:cNvPr id="22" name="Shape 20"/>
          <p:cNvSpPr/>
          <p:nvPr/>
        </p:nvSpPr>
        <p:spPr>
          <a:xfrm>
            <a:off x="548640" y="4023360"/>
            <a:ext cx="8046720" cy="548640"/>
          </a:xfrm>
          <a:prstGeom prst="roundRect">
            <a:avLst>
              <a:gd name="adj" fmla="val 13333"/>
            </a:avLst>
          </a:prstGeom>
          <a:solidFill>
            <a:srgbClr val="3F7B64"/>
          </a:solidFill>
          <a:ln w="12700">
            <a:solidFill>
              <a:srgbClr val="3F7B64"/>
            </a:solidFill>
            <a:prstDash val="solid"/>
          </a:ln>
        </p:spPr>
      </p:sp>
      <p:sp>
        <p:nvSpPr>
          <p:cNvPr id="23" name="Text 21"/>
          <p:cNvSpPr txBox="1"/>
          <p:nvPr/>
        </p:nvSpPr>
        <p:spPr>
          <a:xfrm>
            <a:off x="777240" y="4023360"/>
            <a:ext cx="7589520" cy="548640"/>
          </a:xfrm>
          <a:prstGeom prst="rect">
            <a:avLst/>
          </a:prstGeom>
          <a:noFill/>
          <a:ln/>
        </p:spPr>
        <p:txBody>
          <a:bodyPr wrap="square" lIns="0" tIns="0" rIns="0" bIns="0" rtlCol="0" anchor="ctr"/>
          <a:lstStyle/>
          <a:p>
            <a:pPr indent="0" marL="0">
              <a:buNone/>
            </a:pPr>
            <a:r>
              <a:rPr lang="en-US" sz="1700" b="1" dirty="0">
                <a:solidFill>
                  <a:srgbClr val="FFFFFF"/>
                </a:solidFill>
              </a:rPr>
              <a:t>Always on: a likely spike is flagged in advance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2F2E2D"/>
                </a:solidFill>
              </a:rPr>
              <a:t>How our project works</a:t>
            </a:r>
            <a:endParaRPr lang="en-US" sz="2800" dirty="0"/>
          </a:p>
        </p:txBody>
      </p:sp>
      <p:sp>
        <p:nvSpPr>
          <p:cNvPr id="3" name="Shape 1"/>
          <p:cNvSpPr/>
          <p:nvPr/>
        </p:nvSpPr>
        <p:spPr>
          <a:xfrm>
            <a:off x="548640" y="1024128"/>
            <a:ext cx="411480" cy="32004"/>
          </a:xfrm>
          <a:prstGeom prst="rect">
            <a:avLst/>
          </a:prstGeom>
          <a:solidFill>
            <a:srgbClr val="3F7B64"/>
          </a:solidFill>
          <a:ln w="12700">
            <a:solidFill>
              <a:srgbClr val="3F7B64"/>
            </a:solidFill>
            <a:prstDash val="solid"/>
          </a:ln>
        </p:spPr>
      </p:sp>
      <p:sp>
        <p:nvSpPr>
          <p:cNvPr id="4" name="Text 2"/>
          <p:cNvSpPr txBox="1"/>
          <p:nvPr/>
        </p:nvSpPr>
        <p:spPr>
          <a:xfrm>
            <a:off x="548640" y="4754880"/>
            <a:ext cx="3657600" cy="228600"/>
          </a:xfrm>
          <a:prstGeom prst="rect">
            <a:avLst/>
          </a:prstGeom>
          <a:noFill/>
          <a:ln/>
        </p:spPr>
        <p:txBody>
          <a:bodyPr wrap="square" lIns="0" tIns="0" rIns="0" bIns="0" rtlCol="0" anchor="ctr"/>
          <a:lstStyle/>
          <a:p>
            <a:pPr indent="0" marL="0">
              <a:buNone/>
            </a:pPr>
            <a:r>
              <a:rPr lang="en-US" sz="1000" dirty="0">
                <a:solidFill>
                  <a:srgbClr val="6B6967"/>
                </a:solidFill>
              </a:rPr>
              <a:t>GlycoTwin | Team Aeternum</a:t>
            </a:r>
            <a:endParaRPr lang="en-US" sz="1000" dirty="0"/>
          </a:p>
        </p:txBody>
      </p:sp>
      <p:sp>
        <p:nvSpPr>
          <p:cNvPr id="5" name="Text 3"/>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1000" dirty="0">
                <a:solidFill>
                  <a:srgbClr val="6B6967"/>
                </a:solidFill>
              </a:rPr>
              <a:t>6</a:t>
            </a:r>
            <a:endParaRPr lang="en-US" sz="1000" dirty="0"/>
          </a:p>
        </p:txBody>
      </p:sp>
      <p:sp>
        <p:nvSpPr>
          <p:cNvPr id="6" name="Shape 4"/>
          <p:cNvSpPr/>
          <p:nvPr/>
        </p:nvSpPr>
        <p:spPr>
          <a:xfrm>
            <a:off x="548640" y="1280160"/>
            <a:ext cx="1874520" cy="2514600"/>
          </a:xfrm>
          <a:prstGeom prst="roundRect">
            <a:avLst>
              <a:gd name="adj" fmla="val 3902"/>
            </a:avLst>
          </a:prstGeom>
          <a:solidFill>
            <a:srgbClr val="F2F6F4"/>
          </a:solidFill>
          <a:ln w="12700">
            <a:solidFill>
              <a:srgbClr val="F2F6F4"/>
            </a:solidFill>
            <a:prstDash val="solid"/>
          </a:ln>
        </p:spPr>
      </p:sp>
      <p:sp>
        <p:nvSpPr>
          <p:cNvPr id="7" name="Shape 5"/>
          <p:cNvSpPr/>
          <p:nvPr/>
        </p:nvSpPr>
        <p:spPr>
          <a:xfrm>
            <a:off x="685800" y="1417320"/>
            <a:ext cx="384048" cy="384048"/>
          </a:xfrm>
          <a:prstGeom prst="ellipse">
            <a:avLst/>
          </a:prstGeom>
          <a:solidFill>
            <a:srgbClr val="3F7B64"/>
          </a:solidFill>
          <a:ln w="12700">
            <a:solidFill>
              <a:srgbClr val="3F7B64"/>
            </a:solidFill>
            <a:prstDash val="solid"/>
          </a:ln>
        </p:spPr>
      </p:sp>
      <p:sp>
        <p:nvSpPr>
          <p:cNvPr id="8" name="Text 6"/>
          <p:cNvSpPr txBox="1"/>
          <p:nvPr/>
        </p:nvSpPr>
        <p:spPr>
          <a:xfrm>
            <a:off x="685800" y="14173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txBox="1"/>
          <p:nvPr/>
        </p:nvSpPr>
        <p:spPr>
          <a:xfrm>
            <a:off x="685800" y="1920240"/>
            <a:ext cx="1600200" cy="365760"/>
          </a:xfrm>
          <a:prstGeom prst="rect">
            <a:avLst/>
          </a:prstGeom>
          <a:noFill/>
          <a:ln/>
        </p:spPr>
        <p:txBody>
          <a:bodyPr wrap="square" lIns="0" tIns="0" rIns="0" bIns="0" rtlCol="0" anchor="ctr"/>
          <a:lstStyle/>
          <a:p>
            <a:pPr indent="0" marL="0">
              <a:buNone/>
            </a:pPr>
            <a:r>
              <a:rPr lang="en-US" sz="1800" b="1" dirty="0">
                <a:solidFill>
                  <a:srgbClr val="2F2E2D"/>
                </a:solidFill>
              </a:rPr>
              <a:t>Join</a:t>
            </a:r>
            <a:endParaRPr lang="en-US" sz="1800" dirty="0"/>
          </a:p>
        </p:txBody>
      </p:sp>
      <p:sp>
        <p:nvSpPr>
          <p:cNvPr id="10" name="Text 8"/>
          <p:cNvSpPr txBox="1"/>
          <p:nvPr/>
        </p:nvSpPr>
        <p:spPr>
          <a:xfrm>
            <a:off x="685800" y="2331720"/>
            <a:ext cx="1600200" cy="1371600"/>
          </a:xfrm>
          <a:prstGeom prst="rect">
            <a:avLst/>
          </a:prstGeom>
          <a:noFill/>
          <a:ln/>
        </p:spPr>
        <p:txBody>
          <a:bodyPr wrap="square" lIns="0" tIns="0" rIns="0" bIns="0" rtlCol="0" anchor="t"/>
          <a:lstStyle/>
          <a:p>
            <a:pPr indent="0" marL="0">
              <a:buNone/>
            </a:pPr>
            <a:r>
              <a:rPr lang="en-US" sz="1400" dirty="0">
                <a:solidFill>
                  <a:srgbClr val="2F2E2D"/>
                </a:solidFill>
              </a:rPr>
              <a:t>Synthea clinic record and simulated wearable trace, joined by patient id</a:t>
            </a:r>
            <a:endParaRPr lang="en-US" sz="1400" dirty="0"/>
          </a:p>
        </p:txBody>
      </p:sp>
      <p:sp>
        <p:nvSpPr>
          <p:cNvPr id="11" name="Shape 9"/>
          <p:cNvSpPr/>
          <p:nvPr/>
        </p:nvSpPr>
        <p:spPr>
          <a:xfrm>
            <a:off x="2606040" y="1280160"/>
            <a:ext cx="1874520" cy="2514600"/>
          </a:xfrm>
          <a:prstGeom prst="roundRect">
            <a:avLst>
              <a:gd name="adj" fmla="val 3902"/>
            </a:avLst>
          </a:prstGeom>
          <a:solidFill>
            <a:srgbClr val="F2F6F4"/>
          </a:solidFill>
          <a:ln w="12700">
            <a:solidFill>
              <a:srgbClr val="F2F6F4"/>
            </a:solidFill>
            <a:prstDash val="solid"/>
          </a:ln>
        </p:spPr>
      </p:sp>
      <p:sp>
        <p:nvSpPr>
          <p:cNvPr id="12" name="Shape 10"/>
          <p:cNvSpPr/>
          <p:nvPr/>
        </p:nvSpPr>
        <p:spPr>
          <a:xfrm>
            <a:off x="2743200" y="1417320"/>
            <a:ext cx="384048" cy="384048"/>
          </a:xfrm>
          <a:prstGeom prst="ellipse">
            <a:avLst/>
          </a:prstGeom>
          <a:solidFill>
            <a:srgbClr val="3F7B64"/>
          </a:solidFill>
          <a:ln w="12700">
            <a:solidFill>
              <a:srgbClr val="3F7B64"/>
            </a:solidFill>
            <a:prstDash val="solid"/>
          </a:ln>
        </p:spPr>
      </p:sp>
      <p:sp>
        <p:nvSpPr>
          <p:cNvPr id="13" name="Text 11"/>
          <p:cNvSpPr txBox="1"/>
          <p:nvPr/>
        </p:nvSpPr>
        <p:spPr>
          <a:xfrm>
            <a:off x="2743200" y="14173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4" name="Text 12"/>
          <p:cNvSpPr txBox="1"/>
          <p:nvPr/>
        </p:nvSpPr>
        <p:spPr>
          <a:xfrm>
            <a:off x="2743200" y="1920240"/>
            <a:ext cx="1600200" cy="365760"/>
          </a:xfrm>
          <a:prstGeom prst="rect">
            <a:avLst/>
          </a:prstGeom>
          <a:noFill/>
          <a:ln/>
        </p:spPr>
        <p:txBody>
          <a:bodyPr wrap="square" lIns="0" tIns="0" rIns="0" bIns="0" rtlCol="0" anchor="ctr"/>
          <a:lstStyle/>
          <a:p>
            <a:pPr indent="0" marL="0">
              <a:buNone/>
            </a:pPr>
            <a:r>
              <a:rPr lang="en-US" sz="1800" b="1" dirty="0">
                <a:solidFill>
                  <a:srgbClr val="2F2E2D"/>
                </a:solidFill>
              </a:rPr>
              <a:t>Window</a:t>
            </a:r>
            <a:endParaRPr lang="en-US" sz="1800" dirty="0"/>
          </a:p>
        </p:txBody>
      </p:sp>
      <p:sp>
        <p:nvSpPr>
          <p:cNvPr id="15" name="Text 13"/>
          <p:cNvSpPr txBox="1"/>
          <p:nvPr/>
        </p:nvSpPr>
        <p:spPr>
          <a:xfrm>
            <a:off x="2743200" y="2331720"/>
            <a:ext cx="1600200" cy="1371600"/>
          </a:xfrm>
          <a:prstGeom prst="rect">
            <a:avLst/>
          </a:prstGeom>
          <a:noFill/>
          <a:ln/>
        </p:spPr>
        <p:txBody>
          <a:bodyPr wrap="square" lIns="0" tIns="0" rIns="0" bIns="0" rtlCol="0" anchor="t"/>
          <a:lstStyle/>
          <a:p>
            <a:pPr indent="0" marL="0">
              <a:buNone/>
            </a:pPr>
            <a:r>
              <a:rPr lang="en-US" sz="1400" dirty="0">
                <a:solidFill>
                  <a:srgbClr val="2F2E2D"/>
                </a:solidFill>
              </a:rPr>
              <a:t>Around the clock, every 30 minutes, the model sees only the past 6 hours plus the record</a:t>
            </a:r>
            <a:endParaRPr lang="en-US" sz="1400" dirty="0"/>
          </a:p>
        </p:txBody>
      </p:sp>
      <p:sp>
        <p:nvSpPr>
          <p:cNvPr id="16" name="Shape 14"/>
          <p:cNvSpPr/>
          <p:nvPr/>
        </p:nvSpPr>
        <p:spPr>
          <a:xfrm>
            <a:off x="4663440" y="1280160"/>
            <a:ext cx="1874520" cy="2514600"/>
          </a:xfrm>
          <a:prstGeom prst="roundRect">
            <a:avLst>
              <a:gd name="adj" fmla="val 3902"/>
            </a:avLst>
          </a:prstGeom>
          <a:solidFill>
            <a:srgbClr val="F2F6F4"/>
          </a:solidFill>
          <a:ln w="12700">
            <a:solidFill>
              <a:srgbClr val="F2F6F4"/>
            </a:solidFill>
            <a:prstDash val="solid"/>
          </a:ln>
        </p:spPr>
      </p:sp>
      <p:sp>
        <p:nvSpPr>
          <p:cNvPr id="17" name="Shape 15"/>
          <p:cNvSpPr/>
          <p:nvPr/>
        </p:nvSpPr>
        <p:spPr>
          <a:xfrm>
            <a:off x="4800600" y="1417320"/>
            <a:ext cx="384048" cy="384048"/>
          </a:xfrm>
          <a:prstGeom prst="ellipse">
            <a:avLst/>
          </a:prstGeom>
          <a:solidFill>
            <a:srgbClr val="3F7B64"/>
          </a:solidFill>
          <a:ln w="12700">
            <a:solidFill>
              <a:srgbClr val="3F7B64"/>
            </a:solidFill>
            <a:prstDash val="solid"/>
          </a:ln>
        </p:spPr>
      </p:sp>
      <p:sp>
        <p:nvSpPr>
          <p:cNvPr id="18" name="Text 16"/>
          <p:cNvSpPr txBox="1"/>
          <p:nvPr/>
        </p:nvSpPr>
        <p:spPr>
          <a:xfrm>
            <a:off x="4800600" y="14173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9" name="Text 17"/>
          <p:cNvSpPr txBox="1"/>
          <p:nvPr/>
        </p:nvSpPr>
        <p:spPr>
          <a:xfrm>
            <a:off x="4800600" y="1920240"/>
            <a:ext cx="1600200" cy="365760"/>
          </a:xfrm>
          <a:prstGeom prst="rect">
            <a:avLst/>
          </a:prstGeom>
          <a:noFill/>
          <a:ln/>
        </p:spPr>
        <p:txBody>
          <a:bodyPr wrap="square" lIns="0" tIns="0" rIns="0" bIns="0" rtlCol="0" anchor="ctr"/>
          <a:lstStyle/>
          <a:p>
            <a:pPr indent="0" marL="0">
              <a:buNone/>
            </a:pPr>
            <a:r>
              <a:rPr lang="en-US" sz="1800" b="1" dirty="0">
                <a:solidFill>
                  <a:srgbClr val="2F2E2D"/>
                </a:solidFill>
              </a:rPr>
              <a:t>Score</a:t>
            </a:r>
            <a:endParaRPr lang="en-US" sz="1800" dirty="0"/>
          </a:p>
        </p:txBody>
      </p:sp>
      <p:sp>
        <p:nvSpPr>
          <p:cNvPr id="20" name="Text 18"/>
          <p:cNvSpPr txBox="1"/>
          <p:nvPr/>
        </p:nvSpPr>
        <p:spPr>
          <a:xfrm>
            <a:off x="4800600" y="2331720"/>
            <a:ext cx="1600200" cy="1371600"/>
          </a:xfrm>
          <a:prstGeom prst="rect">
            <a:avLst/>
          </a:prstGeom>
          <a:noFill/>
          <a:ln/>
        </p:spPr>
        <p:txBody>
          <a:bodyPr wrap="square" lIns="0" tIns="0" rIns="0" bIns="0" rtlCol="0" anchor="t"/>
          <a:lstStyle/>
          <a:p>
            <a:pPr indent="0" marL="0">
              <a:buNone/>
            </a:pPr>
            <a:r>
              <a:rPr lang="en-US" sz="1400" dirty="0">
                <a:solidFill>
                  <a:srgbClr val="2F2E2D"/>
                </a:solidFill>
              </a:rPr>
              <a:t>LightGBM gives the 2-hour spike chance. Four more models draw glucose at 30, 60, 90 and 120 minutes</a:t>
            </a:r>
            <a:endParaRPr lang="en-US" sz="1400" dirty="0"/>
          </a:p>
        </p:txBody>
      </p:sp>
      <p:sp>
        <p:nvSpPr>
          <p:cNvPr id="21" name="Shape 19"/>
          <p:cNvSpPr/>
          <p:nvPr/>
        </p:nvSpPr>
        <p:spPr>
          <a:xfrm>
            <a:off x="6720840" y="1280160"/>
            <a:ext cx="1874520" cy="2514600"/>
          </a:xfrm>
          <a:prstGeom prst="roundRect">
            <a:avLst>
              <a:gd name="adj" fmla="val 3902"/>
            </a:avLst>
          </a:prstGeom>
          <a:solidFill>
            <a:srgbClr val="F2F6F4"/>
          </a:solidFill>
          <a:ln w="12700">
            <a:solidFill>
              <a:srgbClr val="F2F6F4"/>
            </a:solidFill>
            <a:prstDash val="solid"/>
          </a:ln>
        </p:spPr>
      </p:sp>
      <p:sp>
        <p:nvSpPr>
          <p:cNvPr id="22" name="Shape 20"/>
          <p:cNvSpPr/>
          <p:nvPr/>
        </p:nvSpPr>
        <p:spPr>
          <a:xfrm>
            <a:off x="6858000" y="1417320"/>
            <a:ext cx="384048" cy="384048"/>
          </a:xfrm>
          <a:prstGeom prst="ellipse">
            <a:avLst/>
          </a:prstGeom>
          <a:solidFill>
            <a:srgbClr val="C74634"/>
          </a:solidFill>
          <a:ln w="12700">
            <a:solidFill>
              <a:srgbClr val="C74634"/>
            </a:solidFill>
            <a:prstDash val="solid"/>
          </a:ln>
        </p:spPr>
      </p:sp>
      <p:sp>
        <p:nvSpPr>
          <p:cNvPr id="23" name="Text 21"/>
          <p:cNvSpPr txBox="1"/>
          <p:nvPr/>
        </p:nvSpPr>
        <p:spPr>
          <a:xfrm>
            <a:off x="6858000" y="14173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4" name="Text 22"/>
          <p:cNvSpPr txBox="1"/>
          <p:nvPr/>
        </p:nvSpPr>
        <p:spPr>
          <a:xfrm>
            <a:off x="6858000" y="1920240"/>
            <a:ext cx="1600200" cy="365760"/>
          </a:xfrm>
          <a:prstGeom prst="rect">
            <a:avLst/>
          </a:prstGeom>
          <a:noFill/>
          <a:ln/>
        </p:spPr>
        <p:txBody>
          <a:bodyPr wrap="square" lIns="0" tIns="0" rIns="0" bIns="0" rtlCol="0" anchor="ctr"/>
          <a:lstStyle/>
          <a:p>
            <a:pPr indent="0" marL="0">
              <a:buNone/>
            </a:pPr>
            <a:r>
              <a:rPr lang="en-US" sz="1800" b="1" dirty="0">
                <a:solidFill>
                  <a:srgbClr val="2F2E2D"/>
                </a:solidFill>
              </a:rPr>
              <a:t>Alert</a:t>
            </a:r>
            <a:endParaRPr lang="en-US" sz="1800" dirty="0"/>
          </a:p>
        </p:txBody>
      </p:sp>
      <p:sp>
        <p:nvSpPr>
          <p:cNvPr id="25" name="Text 23"/>
          <p:cNvSpPr txBox="1"/>
          <p:nvPr/>
        </p:nvSpPr>
        <p:spPr>
          <a:xfrm>
            <a:off x="6858000" y="2331720"/>
            <a:ext cx="1600200" cy="1371600"/>
          </a:xfrm>
          <a:prstGeom prst="rect">
            <a:avLst/>
          </a:prstGeom>
          <a:noFill/>
          <a:ln/>
        </p:spPr>
        <p:txBody>
          <a:bodyPr wrap="square" lIns="0" tIns="0" rIns="0" bIns="0" rtlCol="0" anchor="t"/>
          <a:lstStyle/>
          <a:p>
            <a:pPr indent="0" marL="0">
              <a:buNone/>
            </a:pPr>
            <a:r>
              <a:rPr lang="en-US" sz="1400" dirty="0">
                <a:solidFill>
                  <a:srgbClr val="2F2E2D"/>
                </a:solidFill>
              </a:rPr>
              <a:t>On at 60% risk. It goes to the care team, not straight to the doctor</a:t>
            </a:r>
            <a:endParaRPr lang="en-US" sz="1400" dirty="0"/>
          </a:p>
        </p:txBody>
      </p:sp>
      <p:sp>
        <p:nvSpPr>
          <p:cNvPr id="26" name="Shape 24"/>
          <p:cNvSpPr/>
          <p:nvPr/>
        </p:nvSpPr>
        <p:spPr>
          <a:xfrm>
            <a:off x="548640" y="3977640"/>
            <a:ext cx="8046720" cy="548640"/>
          </a:xfrm>
          <a:prstGeom prst="roundRect">
            <a:avLst>
              <a:gd name="adj" fmla="val 13333"/>
            </a:avLst>
          </a:prstGeom>
          <a:solidFill>
            <a:srgbClr val="3F7B64"/>
          </a:solidFill>
          <a:ln w="12700">
            <a:solidFill>
              <a:srgbClr val="3F7B64"/>
            </a:solidFill>
            <a:prstDash val="solid"/>
          </a:ln>
        </p:spPr>
      </p:sp>
      <p:sp>
        <p:nvSpPr>
          <p:cNvPr id="27" name="Text 25"/>
          <p:cNvSpPr txBox="1"/>
          <p:nvPr/>
        </p:nvSpPr>
        <p:spPr>
          <a:xfrm>
            <a:off x="777240" y="3977640"/>
            <a:ext cx="7589520" cy="548640"/>
          </a:xfrm>
          <a:prstGeom prst="rect">
            <a:avLst/>
          </a:prstGeom>
          <a:noFill/>
          <a:ln/>
        </p:spPr>
        <p:txBody>
          <a:bodyPr wrap="square" lIns="0" tIns="0" rIns="0" bIns="0" rtlCol="0" anchor="ctr"/>
          <a:lstStyle/>
          <a:p>
            <a:pPr indent="0" marL="0">
              <a:buNone/>
            </a:pPr>
            <a:r>
              <a:rPr lang="en-US" sz="1700" b="1" dirty="0">
                <a:solidFill>
                  <a:srgbClr val="FFFFFF"/>
                </a:solidFill>
              </a:rPr>
              <a:t>People are split by person: a test patient never appears in training</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2F2E2D"/>
                </a:solidFill>
              </a:rPr>
              <a:t>Tiered escalation: who acts, and when</a:t>
            </a:r>
            <a:endParaRPr lang="en-US" sz="2800" dirty="0"/>
          </a:p>
        </p:txBody>
      </p:sp>
      <p:sp>
        <p:nvSpPr>
          <p:cNvPr id="3" name="Shape 1"/>
          <p:cNvSpPr/>
          <p:nvPr/>
        </p:nvSpPr>
        <p:spPr>
          <a:xfrm>
            <a:off x="548640" y="1024128"/>
            <a:ext cx="411480" cy="32004"/>
          </a:xfrm>
          <a:prstGeom prst="rect">
            <a:avLst/>
          </a:prstGeom>
          <a:solidFill>
            <a:srgbClr val="3F7B64"/>
          </a:solidFill>
          <a:ln w="12700">
            <a:solidFill>
              <a:srgbClr val="3F7B64"/>
            </a:solidFill>
            <a:prstDash val="solid"/>
          </a:ln>
        </p:spPr>
      </p:sp>
      <p:sp>
        <p:nvSpPr>
          <p:cNvPr id="4" name="Text 2"/>
          <p:cNvSpPr txBox="1"/>
          <p:nvPr/>
        </p:nvSpPr>
        <p:spPr>
          <a:xfrm>
            <a:off x="548640" y="4754880"/>
            <a:ext cx="3657600" cy="228600"/>
          </a:xfrm>
          <a:prstGeom prst="rect">
            <a:avLst/>
          </a:prstGeom>
          <a:noFill/>
          <a:ln/>
        </p:spPr>
        <p:txBody>
          <a:bodyPr wrap="square" lIns="0" tIns="0" rIns="0" bIns="0" rtlCol="0" anchor="ctr"/>
          <a:lstStyle/>
          <a:p>
            <a:pPr indent="0" marL="0">
              <a:buNone/>
            </a:pPr>
            <a:r>
              <a:rPr lang="en-US" sz="1000" dirty="0">
                <a:solidFill>
                  <a:srgbClr val="6B6967"/>
                </a:solidFill>
              </a:rPr>
              <a:t>GlycoTwin | Team Aeternum</a:t>
            </a:r>
            <a:endParaRPr lang="en-US" sz="1000" dirty="0"/>
          </a:p>
        </p:txBody>
      </p:sp>
      <p:sp>
        <p:nvSpPr>
          <p:cNvPr id="5" name="Text 3"/>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1000" dirty="0">
                <a:solidFill>
                  <a:srgbClr val="6B6967"/>
                </a:solidFill>
              </a:rPr>
              <a:t>7</a:t>
            </a:r>
            <a:endParaRPr lang="en-US" sz="1000" dirty="0"/>
          </a:p>
        </p:txBody>
      </p:sp>
      <p:sp>
        <p:nvSpPr>
          <p:cNvPr id="6" name="Shape 4"/>
          <p:cNvSpPr/>
          <p:nvPr/>
        </p:nvSpPr>
        <p:spPr>
          <a:xfrm>
            <a:off x="548640" y="1280160"/>
            <a:ext cx="2194560" cy="2423160"/>
          </a:xfrm>
          <a:prstGeom prst="roundRect">
            <a:avLst>
              <a:gd name="adj" fmla="val 3333"/>
            </a:avLst>
          </a:prstGeom>
          <a:solidFill>
            <a:srgbClr val="FFFFFF"/>
          </a:solidFill>
          <a:ln w="19050">
            <a:solidFill>
              <a:srgbClr val="CFCDCB"/>
            </a:solidFill>
            <a:prstDash val="solid"/>
          </a:ln>
        </p:spPr>
      </p:sp>
      <p:sp>
        <p:nvSpPr>
          <p:cNvPr id="7" name="Text 5"/>
          <p:cNvSpPr txBox="1"/>
          <p:nvPr/>
        </p:nvSpPr>
        <p:spPr>
          <a:xfrm>
            <a:off x="731520" y="1417320"/>
            <a:ext cx="1828800" cy="365760"/>
          </a:xfrm>
          <a:prstGeom prst="rect">
            <a:avLst/>
          </a:prstGeom>
          <a:noFill/>
          <a:ln/>
        </p:spPr>
        <p:txBody>
          <a:bodyPr wrap="square" lIns="0" tIns="0" rIns="0" bIns="0" rtlCol="0" anchor="ctr"/>
          <a:lstStyle/>
          <a:p>
            <a:pPr indent="0" marL="0">
              <a:buNone/>
            </a:pPr>
            <a:r>
              <a:rPr lang="en-US" sz="1800" b="1" dirty="0">
                <a:solidFill>
                  <a:srgbClr val="6B6967"/>
                </a:solidFill>
              </a:rPr>
              <a:t>Below 60%</a:t>
            </a:r>
            <a:endParaRPr lang="en-US" sz="1800" dirty="0"/>
          </a:p>
        </p:txBody>
      </p:sp>
      <p:sp>
        <p:nvSpPr>
          <p:cNvPr id="8" name="Text 6"/>
          <p:cNvSpPr txBox="1"/>
          <p:nvPr/>
        </p:nvSpPr>
        <p:spPr>
          <a:xfrm>
            <a:off x="731520" y="1920240"/>
            <a:ext cx="1828800" cy="1645920"/>
          </a:xfrm>
          <a:prstGeom prst="rect">
            <a:avLst/>
          </a:prstGeom>
          <a:noFill/>
          <a:ln/>
        </p:spPr>
        <p:txBody>
          <a:bodyPr wrap="square" lIns="0" tIns="0" rIns="0" bIns="0" rtlCol="0" anchor="t"/>
          <a:lstStyle/>
          <a:p>
            <a:pPr indent="0" marL="0">
              <a:buNone/>
            </a:pPr>
            <a:r>
              <a:rPr lang="en-US" sz="1400" dirty="0">
                <a:solidFill>
                  <a:srgbClr val="2F2E2D"/>
                </a:solidFill>
              </a:rPr>
              <a:t>No alert. The twin keeps scoring 24/7, every 30 minutes.</a:t>
            </a:r>
            <a:endParaRPr lang="en-US" sz="1400" dirty="0"/>
          </a:p>
        </p:txBody>
      </p:sp>
      <p:sp>
        <p:nvSpPr>
          <p:cNvPr id="9" name="Shape 7"/>
          <p:cNvSpPr/>
          <p:nvPr/>
        </p:nvSpPr>
        <p:spPr>
          <a:xfrm>
            <a:off x="3017520" y="1280160"/>
            <a:ext cx="2743200" cy="2423160"/>
          </a:xfrm>
          <a:prstGeom prst="roundRect">
            <a:avLst>
              <a:gd name="adj" fmla="val 3019"/>
            </a:avLst>
          </a:prstGeom>
          <a:solidFill>
            <a:srgbClr val="F2F6F4"/>
          </a:solidFill>
          <a:ln w="12700">
            <a:solidFill>
              <a:srgbClr val="F2F6F4"/>
            </a:solidFill>
            <a:prstDash val="solid"/>
          </a:ln>
        </p:spPr>
      </p:sp>
      <p:sp>
        <p:nvSpPr>
          <p:cNvPr id="10" name="Shape 8"/>
          <p:cNvSpPr/>
          <p:nvPr/>
        </p:nvSpPr>
        <p:spPr>
          <a:xfrm>
            <a:off x="3200400" y="1417320"/>
            <a:ext cx="365760" cy="365760"/>
          </a:xfrm>
          <a:prstGeom prst="ellipse">
            <a:avLst/>
          </a:prstGeom>
          <a:solidFill>
            <a:srgbClr val="3F7B64"/>
          </a:solidFill>
          <a:ln w="12700">
            <a:solidFill>
              <a:srgbClr val="3F7B64"/>
            </a:solidFill>
            <a:prstDash val="solid"/>
          </a:ln>
        </p:spPr>
      </p:sp>
      <p:sp>
        <p:nvSpPr>
          <p:cNvPr id="11" name="Text 9"/>
          <p:cNvSpPr txBox="1"/>
          <p:nvPr/>
        </p:nvSpPr>
        <p:spPr>
          <a:xfrm>
            <a:off x="3200400" y="1417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2" name="Text 10"/>
          <p:cNvSpPr txBox="1"/>
          <p:nvPr/>
        </p:nvSpPr>
        <p:spPr>
          <a:xfrm>
            <a:off x="3675888" y="1417320"/>
            <a:ext cx="2011680" cy="365760"/>
          </a:xfrm>
          <a:prstGeom prst="rect">
            <a:avLst/>
          </a:prstGeom>
          <a:noFill/>
          <a:ln/>
        </p:spPr>
        <p:txBody>
          <a:bodyPr wrap="square" lIns="0" tIns="0" rIns="0" bIns="0" rtlCol="0" anchor="ctr"/>
          <a:lstStyle/>
          <a:p>
            <a:pPr indent="0" marL="0">
              <a:buNone/>
            </a:pPr>
            <a:r>
              <a:rPr lang="en-US" sz="1800" b="1" dirty="0">
                <a:solidFill>
                  <a:srgbClr val="3F7B64"/>
                </a:solidFill>
              </a:rPr>
              <a:t>Care team</a:t>
            </a:r>
            <a:endParaRPr lang="en-US" sz="1800" dirty="0"/>
          </a:p>
        </p:txBody>
      </p:sp>
      <p:sp>
        <p:nvSpPr>
          <p:cNvPr id="13" name="Text 11"/>
          <p:cNvSpPr txBox="1"/>
          <p:nvPr/>
        </p:nvSpPr>
        <p:spPr>
          <a:xfrm>
            <a:off x="3200400" y="1874520"/>
            <a:ext cx="2423160" cy="274320"/>
          </a:xfrm>
          <a:prstGeom prst="rect">
            <a:avLst/>
          </a:prstGeom>
          <a:noFill/>
          <a:ln/>
        </p:spPr>
        <p:txBody>
          <a:bodyPr wrap="square" lIns="0" tIns="0" rIns="0" bIns="0" rtlCol="0" anchor="ctr"/>
          <a:lstStyle/>
          <a:p>
            <a:pPr indent="0" marL="0">
              <a:buNone/>
            </a:pPr>
            <a:r>
              <a:rPr lang="en-US" sz="1300" dirty="0">
                <a:solidFill>
                  <a:srgbClr val="6B6967"/>
                </a:solidFill>
              </a:rPr>
              <a:t>Risk 60% or higher (the alert)</a:t>
            </a:r>
            <a:endParaRPr lang="en-US" sz="1300" dirty="0"/>
          </a:p>
        </p:txBody>
      </p:sp>
      <p:sp>
        <p:nvSpPr>
          <p:cNvPr id="14" name="Text 12"/>
          <p:cNvSpPr txBox="1"/>
          <p:nvPr/>
        </p:nvSpPr>
        <p:spPr>
          <a:xfrm>
            <a:off x="3200400" y="2240280"/>
            <a:ext cx="2423160" cy="14173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F2E2D"/>
                </a:solidFill>
              </a:rPr>
              <a:t>Nurse sees the alert with the reasons</a:t>
            </a:r>
            <a:endParaRPr lang="en-US" sz="1400" dirty="0"/>
          </a:p>
          <a:p>
            <a:pPr marL="342900" indent="-342900">
              <a:spcAft>
                <a:spcPts val="500"/>
              </a:spcAft>
              <a:buSzPct val="100000"/>
              <a:buChar char="•"/>
            </a:pPr>
            <a:r>
              <a:rPr lang="en-US" sz="1400" dirty="0">
                <a:solidFill>
                  <a:srgbClr val="2F2E2D"/>
                </a:solidFill>
              </a:rPr>
              <a:t>Contacts the patient, following clinic protocol</a:t>
            </a:r>
            <a:endParaRPr lang="en-US" sz="1400" dirty="0"/>
          </a:p>
          <a:p>
            <a:pPr marL="342900" indent="-342900">
              <a:spcAft>
                <a:spcPts val="500"/>
              </a:spcAft>
              <a:buSzPct val="100000"/>
              <a:buChar char="•"/>
            </a:pPr>
            <a:r>
              <a:rPr lang="en-US" sz="1400" dirty="0">
                <a:solidFill>
                  <a:srgbClr val="2F2E2D"/>
                </a:solidFill>
              </a:rPr>
              <a:t>Documents the outcome</a:t>
            </a:r>
            <a:endParaRPr lang="en-US" sz="1400" dirty="0"/>
          </a:p>
        </p:txBody>
      </p:sp>
      <p:sp>
        <p:nvSpPr>
          <p:cNvPr id="15" name="Shape 13"/>
          <p:cNvSpPr/>
          <p:nvPr/>
        </p:nvSpPr>
        <p:spPr>
          <a:xfrm>
            <a:off x="6035040" y="1280160"/>
            <a:ext cx="2560320" cy="2423160"/>
          </a:xfrm>
          <a:prstGeom prst="roundRect">
            <a:avLst>
              <a:gd name="adj" fmla="val 3019"/>
            </a:avLst>
          </a:prstGeom>
          <a:solidFill>
            <a:srgbClr val="FBEEEA"/>
          </a:solidFill>
          <a:ln w="12700">
            <a:solidFill>
              <a:srgbClr val="FBEEEA"/>
            </a:solidFill>
            <a:prstDash val="solid"/>
          </a:ln>
        </p:spPr>
      </p:sp>
      <p:sp>
        <p:nvSpPr>
          <p:cNvPr id="16" name="Shape 14"/>
          <p:cNvSpPr/>
          <p:nvPr/>
        </p:nvSpPr>
        <p:spPr>
          <a:xfrm>
            <a:off x="6217920" y="1417320"/>
            <a:ext cx="365760" cy="365760"/>
          </a:xfrm>
          <a:prstGeom prst="ellipse">
            <a:avLst/>
          </a:prstGeom>
          <a:solidFill>
            <a:srgbClr val="C74634"/>
          </a:solidFill>
          <a:ln w="12700">
            <a:solidFill>
              <a:srgbClr val="C74634"/>
            </a:solidFill>
            <a:prstDash val="solid"/>
          </a:ln>
        </p:spPr>
      </p:sp>
      <p:sp>
        <p:nvSpPr>
          <p:cNvPr id="17" name="Text 15"/>
          <p:cNvSpPr txBox="1"/>
          <p:nvPr/>
        </p:nvSpPr>
        <p:spPr>
          <a:xfrm>
            <a:off x="6217920" y="1417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8" name="Text 16"/>
          <p:cNvSpPr txBox="1"/>
          <p:nvPr/>
        </p:nvSpPr>
        <p:spPr>
          <a:xfrm>
            <a:off x="6693408" y="1417320"/>
            <a:ext cx="1737360" cy="365760"/>
          </a:xfrm>
          <a:prstGeom prst="rect">
            <a:avLst/>
          </a:prstGeom>
          <a:noFill/>
          <a:ln/>
        </p:spPr>
        <p:txBody>
          <a:bodyPr wrap="square" lIns="0" tIns="0" rIns="0" bIns="0" rtlCol="0" anchor="ctr"/>
          <a:lstStyle/>
          <a:p>
            <a:pPr indent="0" marL="0">
              <a:buNone/>
            </a:pPr>
            <a:r>
              <a:rPr lang="en-US" sz="1800" b="1" dirty="0">
                <a:solidFill>
                  <a:srgbClr val="C74634"/>
                </a:solidFill>
              </a:rPr>
              <a:t>Doctor</a:t>
            </a:r>
            <a:endParaRPr lang="en-US" sz="1800" dirty="0"/>
          </a:p>
        </p:txBody>
      </p:sp>
      <p:sp>
        <p:nvSpPr>
          <p:cNvPr id="19" name="Text 17"/>
          <p:cNvSpPr txBox="1"/>
          <p:nvPr/>
        </p:nvSpPr>
        <p:spPr>
          <a:xfrm>
            <a:off x="6217920" y="1874520"/>
            <a:ext cx="2240280" cy="274320"/>
          </a:xfrm>
          <a:prstGeom prst="rect">
            <a:avLst/>
          </a:prstGeom>
          <a:noFill/>
          <a:ln/>
        </p:spPr>
        <p:txBody>
          <a:bodyPr wrap="square" lIns="0" tIns="0" rIns="0" bIns="0" rtlCol="0" anchor="ctr"/>
          <a:lstStyle/>
          <a:p>
            <a:pPr indent="0" marL="0">
              <a:buNone/>
            </a:pPr>
            <a:r>
              <a:rPr lang="en-US" sz="1300" dirty="0">
                <a:solidFill>
                  <a:srgbClr val="6B6967"/>
                </a:solidFill>
              </a:rPr>
              <a:t>Only if clinic criteria are met</a:t>
            </a:r>
            <a:endParaRPr lang="en-US" sz="1300" dirty="0"/>
          </a:p>
        </p:txBody>
      </p:sp>
      <p:sp>
        <p:nvSpPr>
          <p:cNvPr id="20" name="Text 18"/>
          <p:cNvSpPr txBox="1"/>
          <p:nvPr/>
        </p:nvSpPr>
        <p:spPr>
          <a:xfrm>
            <a:off x="6217920" y="2240280"/>
            <a:ext cx="2240280" cy="14173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F2E2D"/>
                </a:solidFill>
              </a:rPr>
              <a:t>Symptoms reported</a:t>
            </a:r>
            <a:endParaRPr lang="en-US" sz="1400" dirty="0"/>
          </a:p>
          <a:p>
            <a:pPr marL="342900" indent="-342900">
              <a:spcAft>
                <a:spcPts val="500"/>
              </a:spcAft>
              <a:buSzPct val="100000"/>
              <a:buChar char="•"/>
            </a:pPr>
            <a:r>
              <a:rPr lang="en-US" sz="1400" dirty="0">
                <a:solidFill>
                  <a:srgbClr val="2F2E2D"/>
                </a:solidFill>
              </a:rPr>
              <a:t>Patient unreachable</a:t>
            </a:r>
            <a:endParaRPr lang="en-US" sz="1400" dirty="0"/>
          </a:p>
          <a:p>
            <a:pPr marL="342900" indent="-342900">
              <a:spcAft>
                <a:spcPts val="500"/>
              </a:spcAft>
              <a:buSzPct val="100000"/>
              <a:buChar char="•"/>
            </a:pPr>
            <a:r>
              <a:rPr lang="en-US" sz="1400" dirty="0">
                <a:solidFill>
                  <a:srgbClr val="2F2E2D"/>
                </a:solidFill>
              </a:rPr>
              <a:t>Repeated alerts over days</a:t>
            </a:r>
            <a:endParaRPr lang="en-US" sz="1400" dirty="0"/>
          </a:p>
        </p:txBody>
      </p:sp>
      <p:sp>
        <p:nvSpPr>
          <p:cNvPr id="21" name="Shape 19"/>
          <p:cNvSpPr/>
          <p:nvPr/>
        </p:nvSpPr>
        <p:spPr>
          <a:xfrm>
            <a:off x="2761488" y="2487168"/>
            <a:ext cx="237744" cy="0"/>
          </a:xfrm>
          <a:prstGeom prst="line">
            <a:avLst/>
          </a:prstGeom>
          <a:noFill/>
          <a:ln w="25400">
            <a:solidFill>
              <a:srgbClr val="6B6967"/>
            </a:solidFill>
            <a:prstDash val="solid"/>
            <a:tailEnd type="triangle"/>
          </a:ln>
        </p:spPr>
      </p:sp>
      <p:sp>
        <p:nvSpPr>
          <p:cNvPr id="22" name="Shape 20"/>
          <p:cNvSpPr/>
          <p:nvPr/>
        </p:nvSpPr>
        <p:spPr>
          <a:xfrm>
            <a:off x="5779008" y="2487168"/>
            <a:ext cx="237744" cy="0"/>
          </a:xfrm>
          <a:prstGeom prst="line">
            <a:avLst/>
          </a:prstGeom>
          <a:noFill/>
          <a:ln w="25400">
            <a:solidFill>
              <a:srgbClr val="6B6967"/>
            </a:solidFill>
            <a:prstDash val="solid"/>
            <a:tailEnd type="triangle"/>
          </a:ln>
        </p:spPr>
      </p:sp>
      <p:sp>
        <p:nvSpPr>
          <p:cNvPr id="23" name="Shape 21"/>
          <p:cNvSpPr/>
          <p:nvPr/>
        </p:nvSpPr>
        <p:spPr>
          <a:xfrm>
            <a:off x="548640" y="3840480"/>
            <a:ext cx="8046720" cy="548640"/>
          </a:xfrm>
          <a:prstGeom prst="roundRect">
            <a:avLst>
              <a:gd name="adj" fmla="val 13333"/>
            </a:avLst>
          </a:prstGeom>
          <a:solidFill>
            <a:srgbClr val="3F7B64"/>
          </a:solidFill>
          <a:ln w="12700">
            <a:solidFill>
              <a:srgbClr val="3F7B64"/>
            </a:solidFill>
            <a:prstDash val="solid"/>
          </a:ln>
        </p:spPr>
      </p:sp>
      <p:sp>
        <p:nvSpPr>
          <p:cNvPr id="24" name="Text 22"/>
          <p:cNvSpPr txBox="1"/>
          <p:nvPr/>
        </p:nvSpPr>
        <p:spPr>
          <a:xfrm>
            <a:off x="777240" y="3840480"/>
            <a:ext cx="7589520" cy="548640"/>
          </a:xfrm>
          <a:prstGeom prst="rect">
            <a:avLst/>
          </a:prstGeom>
          <a:noFill/>
          <a:ln/>
        </p:spPr>
        <p:txBody>
          <a:bodyPr wrap="square" lIns="0" tIns="0" rIns="0" bIns="0" rtlCol="0" anchor="ctr"/>
          <a:lstStyle/>
          <a:p>
            <a:pPr indent="0" marL="0">
              <a:buNone/>
            </a:pPr>
            <a:r>
              <a:rPr lang="en-US" sz="1700" b="1" dirty="0">
                <a:solidFill>
                  <a:srgbClr val="FFFFFF"/>
                </a:solidFill>
              </a:rPr>
              <a:t>The doctor's list stays short, so alert fatigue is avoided</a:t>
            </a:r>
            <a:endParaRPr lang="en-US" sz="1700" dirty="0"/>
          </a:p>
        </p:txBody>
      </p:sp>
      <p:sp>
        <p:nvSpPr>
          <p:cNvPr id="25" name="Text 23"/>
          <p:cNvSpPr txBox="1"/>
          <p:nvPr/>
        </p:nvSpPr>
        <p:spPr>
          <a:xfrm>
            <a:off x="548640" y="4462272"/>
            <a:ext cx="8046720" cy="228600"/>
          </a:xfrm>
          <a:prstGeom prst="rect">
            <a:avLst/>
          </a:prstGeom>
          <a:noFill/>
          <a:ln/>
        </p:spPr>
        <p:txBody>
          <a:bodyPr wrap="square" lIns="0" tIns="0" rIns="0" bIns="0" rtlCol="0" anchor="ctr"/>
          <a:lstStyle/>
          <a:p>
            <a:pPr indent="0" marL="0">
              <a:buNone/>
            </a:pPr>
            <a:r>
              <a:rPr lang="en-US" sz="1000" dirty="0">
                <a:solidFill>
                  <a:srgbClr val="6B6967"/>
                </a:solidFill>
              </a:rPr>
              <a:t>Escalation criteria are set by the clinic. The prototype sends no real messages.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2F2E2D"/>
                </a:solidFill>
              </a:rPr>
              <a:t>Why we fuse the clinic record with the wearable</a:t>
            </a:r>
            <a:endParaRPr lang="en-US" sz="2800" dirty="0"/>
          </a:p>
        </p:txBody>
      </p:sp>
      <p:sp>
        <p:nvSpPr>
          <p:cNvPr id="3" name="Shape 1"/>
          <p:cNvSpPr/>
          <p:nvPr/>
        </p:nvSpPr>
        <p:spPr>
          <a:xfrm>
            <a:off x="548640" y="1024128"/>
            <a:ext cx="411480" cy="32004"/>
          </a:xfrm>
          <a:prstGeom prst="rect">
            <a:avLst/>
          </a:prstGeom>
          <a:solidFill>
            <a:srgbClr val="3F7B64"/>
          </a:solidFill>
          <a:ln w="12700">
            <a:solidFill>
              <a:srgbClr val="3F7B64"/>
            </a:solidFill>
            <a:prstDash val="solid"/>
          </a:ln>
        </p:spPr>
      </p:sp>
      <p:sp>
        <p:nvSpPr>
          <p:cNvPr id="4" name="Text 2"/>
          <p:cNvSpPr txBox="1"/>
          <p:nvPr/>
        </p:nvSpPr>
        <p:spPr>
          <a:xfrm>
            <a:off x="548640" y="4754880"/>
            <a:ext cx="3657600" cy="228600"/>
          </a:xfrm>
          <a:prstGeom prst="rect">
            <a:avLst/>
          </a:prstGeom>
          <a:noFill/>
          <a:ln/>
        </p:spPr>
        <p:txBody>
          <a:bodyPr wrap="square" lIns="0" tIns="0" rIns="0" bIns="0" rtlCol="0" anchor="ctr"/>
          <a:lstStyle/>
          <a:p>
            <a:pPr indent="0" marL="0">
              <a:buNone/>
            </a:pPr>
            <a:r>
              <a:rPr lang="en-US" sz="1000" dirty="0">
                <a:solidFill>
                  <a:srgbClr val="6B6967"/>
                </a:solidFill>
              </a:rPr>
              <a:t>GlycoTwin | Team Aeternum</a:t>
            </a:r>
            <a:endParaRPr lang="en-US" sz="1000" dirty="0"/>
          </a:p>
        </p:txBody>
      </p:sp>
      <p:sp>
        <p:nvSpPr>
          <p:cNvPr id="5" name="Text 3"/>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1000" dirty="0">
                <a:solidFill>
                  <a:srgbClr val="6B6967"/>
                </a:solidFill>
              </a:rPr>
              <a:t>8</a:t>
            </a:r>
            <a:endParaRPr lang="en-US" sz="1000" dirty="0"/>
          </a:p>
        </p:txBody>
      </p:sp>
      <p:sp>
        <p:nvSpPr>
          <p:cNvPr id="6" name="Text 4"/>
          <p:cNvSpPr txBox="1"/>
          <p:nvPr/>
        </p:nvSpPr>
        <p:spPr>
          <a:xfrm>
            <a:off x="548640" y="1280160"/>
            <a:ext cx="5029200" cy="320040"/>
          </a:xfrm>
          <a:prstGeom prst="rect">
            <a:avLst/>
          </a:prstGeom>
          <a:noFill/>
          <a:ln/>
        </p:spPr>
        <p:txBody>
          <a:bodyPr wrap="square" lIns="0" tIns="0" rIns="0" bIns="0" rtlCol="0" anchor="ctr"/>
          <a:lstStyle/>
          <a:p>
            <a:pPr indent="0" marL="0">
              <a:buNone/>
            </a:pPr>
            <a:r>
              <a:rPr lang="en-US" sz="1600" b="1" dirty="0">
                <a:solidFill>
                  <a:srgbClr val="6B6967"/>
                </a:solidFill>
              </a:rPr>
              <a:t>2-hour spike rate when glucose is 140 to 160 mg/dL</a:t>
            </a:r>
            <a:endParaRPr lang="en-US" sz="1600" dirty="0"/>
          </a:p>
        </p:txBody>
      </p:sp>
      <p:sp>
        <p:nvSpPr>
          <p:cNvPr id="7" name="Shape 5"/>
          <p:cNvSpPr/>
          <p:nvPr/>
        </p:nvSpPr>
        <p:spPr>
          <a:xfrm>
            <a:off x="548640" y="1737360"/>
            <a:ext cx="2377440" cy="2011680"/>
          </a:xfrm>
          <a:prstGeom prst="roundRect">
            <a:avLst>
              <a:gd name="adj" fmla="val 3636"/>
            </a:avLst>
          </a:prstGeom>
          <a:solidFill>
            <a:srgbClr val="F2F6F4"/>
          </a:solidFill>
          <a:ln w="12700">
            <a:solidFill>
              <a:srgbClr val="F2F6F4"/>
            </a:solidFill>
            <a:prstDash val="solid"/>
          </a:ln>
        </p:spPr>
      </p:sp>
      <p:sp>
        <p:nvSpPr>
          <p:cNvPr id="8" name="Text 6"/>
          <p:cNvSpPr txBox="1"/>
          <p:nvPr/>
        </p:nvSpPr>
        <p:spPr>
          <a:xfrm>
            <a:off x="548640" y="1874520"/>
            <a:ext cx="2377440" cy="914400"/>
          </a:xfrm>
          <a:prstGeom prst="rect">
            <a:avLst/>
          </a:prstGeom>
          <a:noFill/>
          <a:ln/>
        </p:spPr>
        <p:txBody>
          <a:bodyPr wrap="square" lIns="0" tIns="0" rIns="0" bIns="0" rtlCol="0" anchor="ctr"/>
          <a:lstStyle/>
          <a:p>
            <a:pPr algn="ctr" indent="0" marL="0">
              <a:buNone/>
            </a:pPr>
            <a:r>
              <a:rPr lang="en-US" sz="5400" b="1" dirty="0">
                <a:solidFill>
                  <a:srgbClr val="3F7B64"/>
                </a:solidFill>
              </a:rPr>
              <a:t>0.8%</a:t>
            </a:r>
            <a:endParaRPr lang="en-US" sz="5400" dirty="0"/>
          </a:p>
        </p:txBody>
      </p:sp>
      <p:sp>
        <p:nvSpPr>
          <p:cNvPr id="9" name="Text 7"/>
          <p:cNvSpPr txBox="1"/>
          <p:nvPr/>
        </p:nvSpPr>
        <p:spPr>
          <a:xfrm>
            <a:off x="548640" y="2926080"/>
            <a:ext cx="2377440" cy="457200"/>
          </a:xfrm>
          <a:prstGeom prst="rect">
            <a:avLst/>
          </a:prstGeom>
          <a:noFill/>
          <a:ln/>
        </p:spPr>
        <p:txBody>
          <a:bodyPr wrap="square" lIns="0" tIns="0" rIns="0" bIns="0" rtlCol="0" anchor="ctr"/>
          <a:lstStyle/>
          <a:p>
            <a:pPr algn="ctr" indent="0" marL="0">
              <a:buNone/>
            </a:pPr>
            <a:r>
              <a:rPr lang="en-US" sz="1600" dirty="0">
                <a:solidFill>
                  <a:srgbClr val="2F2E2D"/>
                </a:solidFill>
              </a:rPr>
              <a:t>HbA1c under 7%</a:t>
            </a:r>
            <a:endParaRPr lang="en-US" sz="1600" dirty="0"/>
          </a:p>
        </p:txBody>
      </p:sp>
      <p:sp>
        <p:nvSpPr>
          <p:cNvPr id="10" name="Shape 8"/>
          <p:cNvSpPr/>
          <p:nvPr/>
        </p:nvSpPr>
        <p:spPr>
          <a:xfrm>
            <a:off x="3108960" y="1737360"/>
            <a:ext cx="2377440" cy="2011680"/>
          </a:xfrm>
          <a:prstGeom prst="roundRect">
            <a:avLst>
              <a:gd name="adj" fmla="val 3636"/>
            </a:avLst>
          </a:prstGeom>
          <a:solidFill>
            <a:srgbClr val="FBEEEA"/>
          </a:solidFill>
          <a:ln w="12700">
            <a:solidFill>
              <a:srgbClr val="FBEEEA"/>
            </a:solidFill>
            <a:prstDash val="solid"/>
          </a:ln>
        </p:spPr>
      </p:sp>
      <p:sp>
        <p:nvSpPr>
          <p:cNvPr id="11" name="Text 9"/>
          <p:cNvSpPr txBox="1"/>
          <p:nvPr/>
        </p:nvSpPr>
        <p:spPr>
          <a:xfrm>
            <a:off x="3108960" y="1874520"/>
            <a:ext cx="2377440" cy="914400"/>
          </a:xfrm>
          <a:prstGeom prst="rect">
            <a:avLst/>
          </a:prstGeom>
          <a:noFill/>
          <a:ln/>
        </p:spPr>
        <p:txBody>
          <a:bodyPr wrap="square" lIns="0" tIns="0" rIns="0" bIns="0" rtlCol="0" anchor="ctr"/>
          <a:lstStyle/>
          <a:p>
            <a:pPr algn="ctr" indent="0" marL="0">
              <a:buNone/>
            </a:pPr>
            <a:r>
              <a:rPr lang="en-US" sz="5400" b="1" dirty="0">
                <a:solidFill>
                  <a:srgbClr val="C74634"/>
                </a:solidFill>
              </a:rPr>
              <a:t>29.7%</a:t>
            </a:r>
            <a:endParaRPr lang="en-US" sz="5400" dirty="0"/>
          </a:p>
        </p:txBody>
      </p:sp>
      <p:sp>
        <p:nvSpPr>
          <p:cNvPr id="12" name="Text 10"/>
          <p:cNvSpPr txBox="1"/>
          <p:nvPr/>
        </p:nvSpPr>
        <p:spPr>
          <a:xfrm>
            <a:off x="3108960" y="2926080"/>
            <a:ext cx="2377440" cy="457200"/>
          </a:xfrm>
          <a:prstGeom prst="rect">
            <a:avLst/>
          </a:prstGeom>
          <a:noFill/>
          <a:ln/>
        </p:spPr>
        <p:txBody>
          <a:bodyPr wrap="square" lIns="0" tIns="0" rIns="0" bIns="0" rtlCol="0" anchor="ctr"/>
          <a:lstStyle/>
          <a:p>
            <a:pPr algn="ctr" indent="0" marL="0">
              <a:buNone/>
            </a:pPr>
            <a:r>
              <a:rPr lang="en-US" sz="1600" dirty="0">
                <a:solidFill>
                  <a:srgbClr val="2F2E2D"/>
                </a:solidFill>
              </a:rPr>
              <a:t>HbA1c 7% or higher</a:t>
            </a:r>
            <a:endParaRPr lang="en-US" sz="1600" dirty="0"/>
          </a:p>
        </p:txBody>
      </p:sp>
      <p:sp>
        <p:nvSpPr>
          <p:cNvPr id="13" name="Shape 11"/>
          <p:cNvSpPr/>
          <p:nvPr/>
        </p:nvSpPr>
        <p:spPr>
          <a:xfrm>
            <a:off x="5806440" y="1783080"/>
            <a:ext cx="365760" cy="365760"/>
          </a:xfrm>
          <a:prstGeom prst="ellipse">
            <a:avLst/>
          </a:prstGeom>
          <a:solidFill>
            <a:srgbClr val="3F7B64"/>
          </a:solidFill>
          <a:ln w="12700">
            <a:solidFill>
              <a:srgbClr val="3F7B64"/>
            </a:solidFill>
            <a:prstDash val="solid"/>
          </a:ln>
        </p:spPr>
      </p:sp>
      <p:sp>
        <p:nvSpPr>
          <p:cNvPr id="14" name="Text 12"/>
          <p:cNvSpPr txBox="1"/>
          <p:nvPr/>
        </p:nvSpPr>
        <p:spPr>
          <a:xfrm>
            <a:off x="5806440" y="17830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5" name="Text 13"/>
          <p:cNvSpPr txBox="1"/>
          <p:nvPr/>
        </p:nvSpPr>
        <p:spPr>
          <a:xfrm>
            <a:off x="6309360" y="1737360"/>
            <a:ext cx="2286000" cy="868680"/>
          </a:xfrm>
          <a:prstGeom prst="rect">
            <a:avLst/>
          </a:prstGeom>
          <a:noFill/>
          <a:ln/>
        </p:spPr>
        <p:txBody>
          <a:bodyPr wrap="square" lIns="0" tIns="0" rIns="0" bIns="0" rtlCol="0" anchor="t"/>
          <a:lstStyle/>
          <a:p>
            <a:pPr indent="0" marL="0">
              <a:buNone/>
            </a:pPr>
            <a:r>
              <a:rPr lang="en-US" sz="1400" dirty="0">
                <a:solidFill>
                  <a:srgbClr val="2F2E2D"/>
                </a:solidFill>
              </a:rPr>
              <a:t>Glucose alone ranks risk with an AUROC of only 0.751</a:t>
            </a:r>
            <a:endParaRPr lang="en-US" sz="1400" dirty="0"/>
          </a:p>
        </p:txBody>
      </p:sp>
      <p:sp>
        <p:nvSpPr>
          <p:cNvPr id="16" name="Shape 14"/>
          <p:cNvSpPr/>
          <p:nvPr/>
        </p:nvSpPr>
        <p:spPr>
          <a:xfrm>
            <a:off x="5806440" y="2788920"/>
            <a:ext cx="365760" cy="365760"/>
          </a:xfrm>
          <a:prstGeom prst="ellipse">
            <a:avLst/>
          </a:prstGeom>
          <a:solidFill>
            <a:srgbClr val="3F7B64"/>
          </a:solidFill>
          <a:ln w="12700">
            <a:solidFill>
              <a:srgbClr val="3F7B64"/>
            </a:solidFill>
            <a:prstDash val="solid"/>
          </a:ln>
        </p:spPr>
      </p:sp>
      <p:sp>
        <p:nvSpPr>
          <p:cNvPr id="17" name="Text 15"/>
          <p:cNvSpPr txBox="1"/>
          <p:nvPr/>
        </p:nvSpPr>
        <p:spPr>
          <a:xfrm>
            <a:off x="5806440" y="2788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8" name="Text 16"/>
          <p:cNvSpPr txBox="1"/>
          <p:nvPr/>
        </p:nvSpPr>
        <p:spPr>
          <a:xfrm>
            <a:off x="6309360" y="2743200"/>
            <a:ext cx="2286000" cy="868680"/>
          </a:xfrm>
          <a:prstGeom prst="rect">
            <a:avLst/>
          </a:prstGeom>
          <a:noFill/>
          <a:ln/>
        </p:spPr>
        <p:txBody>
          <a:bodyPr wrap="square" lIns="0" tIns="0" rIns="0" bIns="0" rtlCol="0" anchor="t"/>
          <a:lstStyle/>
          <a:p>
            <a:pPr indent="0" marL="0">
              <a:buNone/>
            </a:pPr>
            <a:r>
              <a:rPr lang="en-US" sz="1400" dirty="0">
                <a:solidFill>
                  <a:srgbClr val="2F2E2D"/>
                </a:solidFill>
              </a:rPr>
              <a:t>The 30-minute slope alone reaches 0.619</a:t>
            </a:r>
            <a:endParaRPr lang="en-US" sz="1400" dirty="0"/>
          </a:p>
        </p:txBody>
      </p:sp>
      <p:sp>
        <p:nvSpPr>
          <p:cNvPr id="19" name="Shape 17"/>
          <p:cNvSpPr/>
          <p:nvPr/>
        </p:nvSpPr>
        <p:spPr>
          <a:xfrm>
            <a:off x="548640" y="3931920"/>
            <a:ext cx="8046720" cy="548640"/>
          </a:xfrm>
          <a:prstGeom prst="roundRect">
            <a:avLst>
              <a:gd name="adj" fmla="val 13333"/>
            </a:avLst>
          </a:prstGeom>
          <a:solidFill>
            <a:srgbClr val="3F7B64"/>
          </a:solidFill>
          <a:ln w="12700">
            <a:solidFill>
              <a:srgbClr val="3F7B64"/>
            </a:solidFill>
            <a:prstDash val="solid"/>
          </a:ln>
        </p:spPr>
      </p:sp>
      <p:sp>
        <p:nvSpPr>
          <p:cNvPr id="20" name="Text 18"/>
          <p:cNvSpPr txBox="1"/>
          <p:nvPr/>
        </p:nvSpPr>
        <p:spPr>
          <a:xfrm>
            <a:off x="777240" y="3931920"/>
            <a:ext cx="7589520" cy="548640"/>
          </a:xfrm>
          <a:prstGeom prst="rect">
            <a:avLst/>
          </a:prstGeom>
          <a:noFill/>
          <a:ln/>
        </p:spPr>
        <p:txBody>
          <a:bodyPr wrap="square" lIns="0" tIns="0" rIns="0" bIns="0" rtlCol="0" anchor="ctr"/>
          <a:lstStyle/>
          <a:p>
            <a:pPr indent="0" marL="0">
              <a:buNone/>
            </a:pPr>
            <a:r>
              <a:rPr lang="en-US" sz="1700" b="1" dirty="0">
                <a:solidFill>
                  <a:srgbClr val="FFFFFF"/>
                </a:solidFill>
              </a:rPr>
              <a:t>When recent glucose looks the same, the record changes the call</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2F2E2D"/>
                </a:solidFill>
              </a:rPr>
              <a:t>Results on 52 held-out patients</a:t>
            </a:r>
            <a:endParaRPr lang="en-US" sz="2800" dirty="0"/>
          </a:p>
        </p:txBody>
      </p:sp>
      <p:sp>
        <p:nvSpPr>
          <p:cNvPr id="3" name="Shape 1"/>
          <p:cNvSpPr/>
          <p:nvPr/>
        </p:nvSpPr>
        <p:spPr>
          <a:xfrm>
            <a:off x="548640" y="1024128"/>
            <a:ext cx="411480" cy="32004"/>
          </a:xfrm>
          <a:prstGeom prst="rect">
            <a:avLst/>
          </a:prstGeom>
          <a:solidFill>
            <a:srgbClr val="3F7B64"/>
          </a:solidFill>
          <a:ln w="12700">
            <a:solidFill>
              <a:srgbClr val="3F7B64"/>
            </a:solidFill>
            <a:prstDash val="solid"/>
          </a:ln>
        </p:spPr>
      </p:sp>
      <p:sp>
        <p:nvSpPr>
          <p:cNvPr id="4" name="Text 2"/>
          <p:cNvSpPr txBox="1"/>
          <p:nvPr/>
        </p:nvSpPr>
        <p:spPr>
          <a:xfrm>
            <a:off x="548640" y="4754880"/>
            <a:ext cx="3657600" cy="228600"/>
          </a:xfrm>
          <a:prstGeom prst="rect">
            <a:avLst/>
          </a:prstGeom>
          <a:noFill/>
          <a:ln/>
        </p:spPr>
        <p:txBody>
          <a:bodyPr wrap="square" lIns="0" tIns="0" rIns="0" bIns="0" rtlCol="0" anchor="ctr"/>
          <a:lstStyle/>
          <a:p>
            <a:pPr indent="0" marL="0">
              <a:buNone/>
            </a:pPr>
            <a:r>
              <a:rPr lang="en-US" sz="1000" dirty="0">
                <a:solidFill>
                  <a:srgbClr val="6B6967"/>
                </a:solidFill>
              </a:rPr>
              <a:t>GlycoTwin | Team Aeternum</a:t>
            </a:r>
            <a:endParaRPr lang="en-US" sz="1000" dirty="0"/>
          </a:p>
        </p:txBody>
      </p:sp>
      <p:sp>
        <p:nvSpPr>
          <p:cNvPr id="5" name="Text 3"/>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1000" dirty="0">
                <a:solidFill>
                  <a:srgbClr val="6B6967"/>
                </a:solidFill>
              </a:rPr>
              <a:t>9</a:t>
            </a:r>
            <a:endParaRPr lang="en-US" sz="1000" dirty="0"/>
          </a:p>
        </p:txBody>
      </p:sp>
      <p:graphicFrame>
        <p:nvGraphicFramePr>
          <p:cNvPr id="6" name="Chart 0" descr=""/>
          <p:cNvGraphicFramePr/>
          <p:nvPr/>
        </p:nvGraphicFramePr>
        <p:xfrm>
          <a:off x="548640" y="1280160"/>
          <a:ext cx="5029200" cy="32461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852160" y="1280160"/>
            <a:ext cx="2743200" cy="3246120"/>
          </a:xfrm>
          <a:prstGeom prst="roundRect">
            <a:avLst>
              <a:gd name="adj" fmla="val 2667"/>
            </a:avLst>
          </a:prstGeom>
          <a:solidFill>
            <a:srgbClr val="F2F6F4"/>
          </a:solidFill>
          <a:ln w="12700">
            <a:solidFill>
              <a:srgbClr val="F2F6F4"/>
            </a:solidFill>
            <a:prstDash val="solid"/>
          </a:ln>
        </p:spPr>
      </p:sp>
      <p:sp>
        <p:nvSpPr>
          <p:cNvPr id="8" name="Text 5"/>
          <p:cNvSpPr txBox="1"/>
          <p:nvPr/>
        </p:nvSpPr>
        <p:spPr>
          <a:xfrm>
            <a:off x="5852160" y="1463040"/>
            <a:ext cx="2743200" cy="822960"/>
          </a:xfrm>
          <a:prstGeom prst="rect">
            <a:avLst/>
          </a:prstGeom>
          <a:noFill/>
          <a:ln/>
        </p:spPr>
        <p:txBody>
          <a:bodyPr wrap="square" lIns="0" tIns="0" rIns="0" bIns="0" rtlCol="0" anchor="ctr"/>
          <a:lstStyle/>
          <a:p>
            <a:pPr algn="ctr" indent="0" marL="0">
              <a:buNone/>
            </a:pPr>
            <a:r>
              <a:rPr lang="en-US" sz="5400" b="1" dirty="0">
                <a:solidFill>
                  <a:srgbClr val="3F7B64"/>
                </a:solidFill>
              </a:rPr>
              <a:t>0.986</a:t>
            </a:r>
            <a:endParaRPr lang="en-US" sz="5400" dirty="0"/>
          </a:p>
        </p:txBody>
      </p:sp>
      <p:sp>
        <p:nvSpPr>
          <p:cNvPr id="9" name="Text 6"/>
          <p:cNvSpPr txBox="1"/>
          <p:nvPr/>
        </p:nvSpPr>
        <p:spPr>
          <a:xfrm>
            <a:off x="5852160" y="2286000"/>
            <a:ext cx="2743200" cy="365760"/>
          </a:xfrm>
          <a:prstGeom prst="rect">
            <a:avLst/>
          </a:prstGeom>
          <a:noFill/>
          <a:ln/>
        </p:spPr>
        <p:txBody>
          <a:bodyPr wrap="square" lIns="0" tIns="0" rIns="0" bIns="0" rtlCol="0" anchor="ctr"/>
          <a:lstStyle/>
          <a:p>
            <a:pPr algn="ctr" indent="0" marL="0">
              <a:buNone/>
            </a:pPr>
            <a:r>
              <a:rPr lang="en-US" sz="1600" b="1" dirty="0">
                <a:solidFill>
                  <a:srgbClr val="2F2E2D"/>
                </a:solidFill>
              </a:rPr>
              <a:t>fused model AUROC</a:t>
            </a:r>
            <a:endParaRPr lang="en-US" sz="1600" dirty="0"/>
          </a:p>
        </p:txBody>
      </p:sp>
      <p:sp>
        <p:nvSpPr>
          <p:cNvPr id="10" name="Text 7"/>
          <p:cNvSpPr txBox="1"/>
          <p:nvPr/>
        </p:nvSpPr>
        <p:spPr>
          <a:xfrm>
            <a:off x="6035040" y="2880360"/>
            <a:ext cx="2377440" cy="1371600"/>
          </a:xfrm>
          <a:prstGeom prst="rect">
            <a:avLst/>
          </a:prstGeom>
          <a:noFill/>
          <a:ln/>
        </p:spPr>
        <p:txBody>
          <a:bodyPr wrap="square" lIns="0" tIns="0" rIns="0" bIns="0" rtlCol="0" anchor="t"/>
          <a:lstStyle/>
          <a:p>
            <a:pPr algn="ctr" indent="0" marL="0">
              <a:buNone/>
            </a:pPr>
            <a:r>
              <a:rPr lang="en-US" sz="1400" dirty="0">
                <a:solidFill>
                  <a:srgbClr val="6B6967"/>
                </a:solidFill>
              </a:rPr>
              <a:t>This score describes a formula-generated series. It is not a clinical validation.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2F2E2D"/>
                </a:solidFill>
              </a:rPr>
              <a:t>What the clinic sees</a:t>
            </a:r>
            <a:endParaRPr lang="en-US" sz="2800" dirty="0"/>
          </a:p>
        </p:txBody>
      </p:sp>
      <p:sp>
        <p:nvSpPr>
          <p:cNvPr id="3" name="Shape 1"/>
          <p:cNvSpPr/>
          <p:nvPr/>
        </p:nvSpPr>
        <p:spPr>
          <a:xfrm>
            <a:off x="548640" y="1024128"/>
            <a:ext cx="411480" cy="32004"/>
          </a:xfrm>
          <a:prstGeom prst="rect">
            <a:avLst/>
          </a:prstGeom>
          <a:solidFill>
            <a:srgbClr val="3F7B64"/>
          </a:solidFill>
          <a:ln w="12700">
            <a:solidFill>
              <a:srgbClr val="3F7B64"/>
            </a:solidFill>
            <a:prstDash val="solid"/>
          </a:ln>
        </p:spPr>
      </p:sp>
      <p:sp>
        <p:nvSpPr>
          <p:cNvPr id="4" name="Text 2"/>
          <p:cNvSpPr txBox="1"/>
          <p:nvPr/>
        </p:nvSpPr>
        <p:spPr>
          <a:xfrm>
            <a:off x="548640" y="4754880"/>
            <a:ext cx="3657600" cy="228600"/>
          </a:xfrm>
          <a:prstGeom prst="rect">
            <a:avLst/>
          </a:prstGeom>
          <a:noFill/>
          <a:ln/>
        </p:spPr>
        <p:txBody>
          <a:bodyPr wrap="square" lIns="0" tIns="0" rIns="0" bIns="0" rtlCol="0" anchor="ctr"/>
          <a:lstStyle/>
          <a:p>
            <a:pPr indent="0" marL="0">
              <a:buNone/>
            </a:pPr>
            <a:r>
              <a:rPr lang="en-US" sz="1000" dirty="0">
                <a:solidFill>
                  <a:srgbClr val="6B6967"/>
                </a:solidFill>
              </a:rPr>
              <a:t>GlycoTwin | Team Aeternum</a:t>
            </a:r>
            <a:endParaRPr lang="en-US" sz="1000" dirty="0"/>
          </a:p>
        </p:txBody>
      </p:sp>
      <p:sp>
        <p:nvSpPr>
          <p:cNvPr id="5" name="Text 3"/>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1000" dirty="0">
                <a:solidFill>
                  <a:srgbClr val="6B6967"/>
                </a:solidFill>
              </a:rPr>
              <a:t>10</a:t>
            </a:r>
            <a:endParaRPr lang="en-US" sz="1000" dirty="0"/>
          </a:p>
        </p:txBody>
      </p:sp>
      <p:sp>
        <p:nvSpPr>
          <p:cNvPr id="6" name="Shape 4"/>
          <p:cNvSpPr/>
          <p:nvPr/>
        </p:nvSpPr>
        <p:spPr>
          <a:xfrm>
            <a:off x="548640" y="1280160"/>
            <a:ext cx="2560320" cy="1554480"/>
          </a:xfrm>
          <a:prstGeom prst="roundRect">
            <a:avLst>
              <a:gd name="adj" fmla="val 4706"/>
            </a:avLst>
          </a:prstGeom>
          <a:solidFill>
            <a:srgbClr val="F2F6F4"/>
          </a:solidFill>
          <a:ln w="12700">
            <a:solidFill>
              <a:srgbClr val="F2F6F4"/>
            </a:solidFill>
            <a:prstDash val="solid"/>
          </a:ln>
        </p:spPr>
      </p:sp>
      <p:sp>
        <p:nvSpPr>
          <p:cNvPr id="7" name="Shape 5"/>
          <p:cNvSpPr/>
          <p:nvPr/>
        </p:nvSpPr>
        <p:spPr>
          <a:xfrm>
            <a:off x="685800" y="1417320"/>
            <a:ext cx="329184" cy="329184"/>
          </a:xfrm>
          <a:prstGeom prst="ellipse">
            <a:avLst/>
          </a:prstGeom>
          <a:solidFill>
            <a:srgbClr val="3F7B64"/>
          </a:solidFill>
          <a:ln w="12700">
            <a:solidFill>
              <a:srgbClr val="3F7B64"/>
            </a:solidFill>
            <a:prstDash val="solid"/>
          </a:ln>
        </p:spPr>
      </p:sp>
      <p:sp>
        <p:nvSpPr>
          <p:cNvPr id="8" name="Text 6"/>
          <p:cNvSpPr txBox="1"/>
          <p:nvPr/>
        </p:nvSpPr>
        <p:spPr>
          <a:xfrm>
            <a:off x="685800" y="14173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1115568" y="1417320"/>
            <a:ext cx="1920240" cy="329184"/>
          </a:xfrm>
          <a:prstGeom prst="rect">
            <a:avLst/>
          </a:prstGeom>
          <a:noFill/>
          <a:ln/>
        </p:spPr>
        <p:txBody>
          <a:bodyPr wrap="square" lIns="0" tIns="0" rIns="0" bIns="0" rtlCol="0" anchor="ctr"/>
          <a:lstStyle/>
          <a:p>
            <a:pPr indent="0" marL="0">
              <a:buNone/>
            </a:pPr>
            <a:r>
              <a:rPr lang="en-US" sz="1500" b="1" dirty="0">
                <a:solidFill>
                  <a:srgbClr val="2F2E2D"/>
                </a:solidFill>
              </a:rPr>
              <a:t>Risk-sorted list</a:t>
            </a:r>
            <a:endParaRPr lang="en-US" sz="1500" dirty="0"/>
          </a:p>
        </p:txBody>
      </p:sp>
      <p:sp>
        <p:nvSpPr>
          <p:cNvPr id="10" name="Text 8"/>
          <p:cNvSpPr txBox="1"/>
          <p:nvPr/>
        </p:nvSpPr>
        <p:spPr>
          <a:xfrm>
            <a:off x="685800" y="1847088"/>
            <a:ext cx="2286000" cy="914400"/>
          </a:xfrm>
          <a:prstGeom prst="rect">
            <a:avLst/>
          </a:prstGeom>
          <a:noFill/>
          <a:ln/>
        </p:spPr>
        <p:txBody>
          <a:bodyPr wrap="square" lIns="0" tIns="0" rIns="0" bIns="0" rtlCol="0" anchor="t"/>
          <a:lstStyle/>
          <a:p>
            <a:pPr indent="0" marL="0">
              <a:buNone/>
            </a:pPr>
            <a:r>
              <a:rPr lang="en-US" sz="1400" dirty="0">
                <a:solidFill>
                  <a:srgbClr val="2F2E2D"/>
                </a:solidFill>
              </a:rPr>
              <a:t>Sorted by 2-hour risk. Filter All, High, Moderate, Low. Search by id.</a:t>
            </a:r>
            <a:endParaRPr lang="en-US" sz="1400" dirty="0"/>
          </a:p>
        </p:txBody>
      </p:sp>
      <p:sp>
        <p:nvSpPr>
          <p:cNvPr id="11" name="Shape 9"/>
          <p:cNvSpPr/>
          <p:nvPr/>
        </p:nvSpPr>
        <p:spPr>
          <a:xfrm>
            <a:off x="3291840" y="1280160"/>
            <a:ext cx="2560320" cy="1554480"/>
          </a:xfrm>
          <a:prstGeom prst="roundRect">
            <a:avLst>
              <a:gd name="adj" fmla="val 4706"/>
            </a:avLst>
          </a:prstGeom>
          <a:solidFill>
            <a:srgbClr val="F2F6F4"/>
          </a:solidFill>
          <a:ln w="12700">
            <a:solidFill>
              <a:srgbClr val="F2F6F4"/>
            </a:solidFill>
            <a:prstDash val="solid"/>
          </a:ln>
        </p:spPr>
      </p:sp>
      <p:sp>
        <p:nvSpPr>
          <p:cNvPr id="12" name="Shape 10"/>
          <p:cNvSpPr/>
          <p:nvPr/>
        </p:nvSpPr>
        <p:spPr>
          <a:xfrm>
            <a:off x="3429000" y="1417320"/>
            <a:ext cx="329184" cy="329184"/>
          </a:xfrm>
          <a:prstGeom prst="ellipse">
            <a:avLst/>
          </a:prstGeom>
          <a:solidFill>
            <a:srgbClr val="3F7B64"/>
          </a:solidFill>
          <a:ln w="12700">
            <a:solidFill>
              <a:srgbClr val="3F7B64"/>
            </a:solidFill>
            <a:prstDash val="solid"/>
          </a:ln>
        </p:spPr>
      </p:sp>
      <p:sp>
        <p:nvSpPr>
          <p:cNvPr id="13" name="Text 11"/>
          <p:cNvSpPr txBox="1"/>
          <p:nvPr/>
        </p:nvSpPr>
        <p:spPr>
          <a:xfrm>
            <a:off x="3429000" y="14173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txBox="1"/>
          <p:nvPr/>
        </p:nvSpPr>
        <p:spPr>
          <a:xfrm>
            <a:off x="3858768" y="1417320"/>
            <a:ext cx="1920240" cy="329184"/>
          </a:xfrm>
          <a:prstGeom prst="rect">
            <a:avLst/>
          </a:prstGeom>
          <a:noFill/>
          <a:ln/>
        </p:spPr>
        <p:txBody>
          <a:bodyPr wrap="square" lIns="0" tIns="0" rIns="0" bIns="0" rtlCol="0" anchor="ctr"/>
          <a:lstStyle/>
          <a:p>
            <a:pPr indent="0" marL="0">
              <a:buNone/>
            </a:pPr>
            <a:r>
              <a:rPr lang="en-US" sz="1500" b="1" dirty="0">
                <a:solidFill>
                  <a:srgbClr val="2F2E2D"/>
                </a:solidFill>
              </a:rPr>
              <a:t>Record first</a:t>
            </a:r>
            <a:endParaRPr lang="en-US" sz="1500" dirty="0"/>
          </a:p>
        </p:txBody>
      </p:sp>
      <p:sp>
        <p:nvSpPr>
          <p:cNvPr id="15" name="Text 13"/>
          <p:cNvSpPr txBox="1"/>
          <p:nvPr/>
        </p:nvSpPr>
        <p:spPr>
          <a:xfrm>
            <a:off x="3429000" y="1847088"/>
            <a:ext cx="2286000" cy="914400"/>
          </a:xfrm>
          <a:prstGeom prst="rect">
            <a:avLst/>
          </a:prstGeom>
          <a:noFill/>
          <a:ln/>
        </p:spPr>
        <p:txBody>
          <a:bodyPr wrap="square" lIns="0" tIns="0" rIns="0" bIns="0" rtlCol="0" anchor="t"/>
          <a:lstStyle/>
          <a:p>
            <a:pPr indent="0" marL="0">
              <a:buNone/>
            </a:pPr>
            <a:r>
              <a:rPr lang="en-US" sz="1400" dirty="0">
                <a:solidFill>
                  <a:srgbClr val="2F2E2D"/>
                </a:solidFill>
              </a:rPr>
              <a:t>HbA1c, BMI, blood pressure, duration, medicines, then the glucose chart.</a:t>
            </a:r>
            <a:endParaRPr lang="en-US" sz="1400" dirty="0"/>
          </a:p>
        </p:txBody>
      </p:sp>
      <p:sp>
        <p:nvSpPr>
          <p:cNvPr id="16" name="Shape 14"/>
          <p:cNvSpPr/>
          <p:nvPr/>
        </p:nvSpPr>
        <p:spPr>
          <a:xfrm>
            <a:off x="6035040" y="1280160"/>
            <a:ext cx="2560320" cy="1554480"/>
          </a:xfrm>
          <a:prstGeom prst="roundRect">
            <a:avLst>
              <a:gd name="adj" fmla="val 4706"/>
            </a:avLst>
          </a:prstGeom>
          <a:solidFill>
            <a:srgbClr val="F2F6F4"/>
          </a:solidFill>
          <a:ln w="12700">
            <a:solidFill>
              <a:srgbClr val="F2F6F4"/>
            </a:solidFill>
            <a:prstDash val="solid"/>
          </a:ln>
        </p:spPr>
      </p:sp>
      <p:sp>
        <p:nvSpPr>
          <p:cNvPr id="17" name="Shape 15"/>
          <p:cNvSpPr/>
          <p:nvPr/>
        </p:nvSpPr>
        <p:spPr>
          <a:xfrm>
            <a:off x="6172200" y="1417320"/>
            <a:ext cx="329184" cy="329184"/>
          </a:xfrm>
          <a:prstGeom prst="ellipse">
            <a:avLst/>
          </a:prstGeom>
          <a:solidFill>
            <a:srgbClr val="3F7B64"/>
          </a:solidFill>
          <a:ln w="12700">
            <a:solidFill>
              <a:srgbClr val="3F7B64"/>
            </a:solidFill>
            <a:prstDash val="solid"/>
          </a:ln>
        </p:spPr>
      </p:sp>
      <p:sp>
        <p:nvSpPr>
          <p:cNvPr id="18" name="Text 16"/>
          <p:cNvSpPr txBox="1"/>
          <p:nvPr/>
        </p:nvSpPr>
        <p:spPr>
          <a:xfrm>
            <a:off x="6172200" y="14173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7"/>
          <p:cNvSpPr txBox="1"/>
          <p:nvPr/>
        </p:nvSpPr>
        <p:spPr>
          <a:xfrm>
            <a:off x="6601968" y="1417320"/>
            <a:ext cx="1920240" cy="329184"/>
          </a:xfrm>
          <a:prstGeom prst="rect">
            <a:avLst/>
          </a:prstGeom>
          <a:noFill/>
          <a:ln/>
        </p:spPr>
        <p:txBody>
          <a:bodyPr wrap="square" lIns="0" tIns="0" rIns="0" bIns="0" rtlCol="0" anchor="ctr"/>
          <a:lstStyle/>
          <a:p>
            <a:pPr indent="0" marL="0">
              <a:buNone/>
            </a:pPr>
            <a:r>
              <a:rPr lang="en-US" sz="1500" b="1" dirty="0">
                <a:solidFill>
                  <a:srgbClr val="2F2E2D"/>
                </a:solidFill>
              </a:rPr>
              <a:t>Same glucose</a:t>
            </a:r>
            <a:endParaRPr lang="en-US" sz="1500" dirty="0"/>
          </a:p>
        </p:txBody>
      </p:sp>
      <p:sp>
        <p:nvSpPr>
          <p:cNvPr id="20" name="Text 18"/>
          <p:cNvSpPr txBox="1"/>
          <p:nvPr/>
        </p:nvSpPr>
        <p:spPr>
          <a:xfrm>
            <a:off x="6172200" y="1847088"/>
            <a:ext cx="2286000" cy="914400"/>
          </a:xfrm>
          <a:prstGeom prst="rect">
            <a:avLst/>
          </a:prstGeom>
          <a:noFill/>
          <a:ln/>
        </p:spPr>
        <p:txBody>
          <a:bodyPr wrap="square" lIns="0" tIns="0" rIns="0" bIns="0" rtlCol="0" anchor="t"/>
          <a:lstStyle/>
          <a:p>
            <a:pPr indent="0" marL="0">
              <a:buNone/>
            </a:pPr>
            <a:r>
              <a:rPr lang="en-US" sz="1400" dirty="0">
                <a:solidFill>
                  <a:srgbClr val="2F2E2D"/>
                </a:solidFill>
              </a:rPr>
              <a:t>Two held-out moments at 148.5 mg/dL: HbA1c 6.0% did not spike, 7.8% did.</a:t>
            </a:r>
            <a:endParaRPr lang="en-US" sz="1400" dirty="0"/>
          </a:p>
        </p:txBody>
      </p:sp>
      <p:sp>
        <p:nvSpPr>
          <p:cNvPr id="21" name="Shape 19"/>
          <p:cNvSpPr/>
          <p:nvPr/>
        </p:nvSpPr>
        <p:spPr>
          <a:xfrm>
            <a:off x="548640" y="2971800"/>
            <a:ext cx="2560320" cy="1554480"/>
          </a:xfrm>
          <a:prstGeom prst="roundRect">
            <a:avLst>
              <a:gd name="adj" fmla="val 4706"/>
            </a:avLst>
          </a:prstGeom>
          <a:solidFill>
            <a:srgbClr val="F2F6F4"/>
          </a:solidFill>
          <a:ln w="12700">
            <a:solidFill>
              <a:srgbClr val="F2F6F4"/>
            </a:solidFill>
            <a:prstDash val="solid"/>
          </a:ln>
        </p:spPr>
      </p:sp>
      <p:sp>
        <p:nvSpPr>
          <p:cNvPr id="22" name="Shape 20"/>
          <p:cNvSpPr/>
          <p:nvPr/>
        </p:nvSpPr>
        <p:spPr>
          <a:xfrm>
            <a:off x="685800" y="3108960"/>
            <a:ext cx="329184" cy="329184"/>
          </a:xfrm>
          <a:prstGeom prst="ellipse">
            <a:avLst/>
          </a:prstGeom>
          <a:solidFill>
            <a:srgbClr val="3F7B64"/>
          </a:solidFill>
          <a:ln w="12700">
            <a:solidFill>
              <a:srgbClr val="3F7B64"/>
            </a:solidFill>
            <a:prstDash val="solid"/>
          </a:ln>
        </p:spPr>
      </p:sp>
      <p:sp>
        <p:nvSpPr>
          <p:cNvPr id="23" name="Text 21"/>
          <p:cNvSpPr txBox="1"/>
          <p:nvPr/>
        </p:nvSpPr>
        <p:spPr>
          <a:xfrm>
            <a:off x="685800" y="31089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4" name="Text 22"/>
          <p:cNvSpPr txBox="1"/>
          <p:nvPr/>
        </p:nvSpPr>
        <p:spPr>
          <a:xfrm>
            <a:off x="1115568" y="3108960"/>
            <a:ext cx="1920240" cy="329184"/>
          </a:xfrm>
          <a:prstGeom prst="rect">
            <a:avLst/>
          </a:prstGeom>
          <a:noFill/>
          <a:ln/>
        </p:spPr>
        <p:txBody>
          <a:bodyPr wrap="square" lIns="0" tIns="0" rIns="0" bIns="0" rtlCol="0" anchor="ctr"/>
          <a:lstStyle/>
          <a:p>
            <a:pPr indent="0" marL="0">
              <a:buNone/>
            </a:pPr>
            <a:r>
              <a:rPr lang="en-US" sz="1500" b="1" dirty="0">
                <a:solidFill>
                  <a:srgbClr val="2F2E2D"/>
                </a:solidFill>
              </a:rPr>
              <a:t>14-day replay</a:t>
            </a:r>
            <a:endParaRPr lang="en-US" sz="1500" dirty="0"/>
          </a:p>
        </p:txBody>
      </p:sp>
      <p:sp>
        <p:nvSpPr>
          <p:cNvPr id="25" name="Text 23"/>
          <p:cNvSpPr txBox="1"/>
          <p:nvPr/>
        </p:nvSpPr>
        <p:spPr>
          <a:xfrm>
            <a:off x="685800" y="3538728"/>
            <a:ext cx="2286000" cy="914400"/>
          </a:xfrm>
          <a:prstGeom prst="rect">
            <a:avLst/>
          </a:prstGeom>
          <a:noFill/>
          <a:ln/>
        </p:spPr>
        <p:txBody>
          <a:bodyPr wrap="square" lIns="0" tIns="0" rIns="0" bIns="0" rtlCol="0" anchor="t"/>
          <a:lstStyle/>
          <a:p>
            <a:pPr indent="0" marL="0">
              <a:buNone/>
            </a:pPr>
            <a:r>
              <a:rPr lang="en-US" sz="1400" dirty="0">
                <a:solidFill>
                  <a:srgbClr val="2F2E2D"/>
                </a:solidFill>
              </a:rPr>
              <a:t>A slider moves the decision through the 14 days. Chart and alert follow.</a:t>
            </a:r>
            <a:endParaRPr lang="en-US" sz="1400" dirty="0"/>
          </a:p>
        </p:txBody>
      </p:sp>
      <p:sp>
        <p:nvSpPr>
          <p:cNvPr id="26" name="Shape 24"/>
          <p:cNvSpPr/>
          <p:nvPr/>
        </p:nvSpPr>
        <p:spPr>
          <a:xfrm>
            <a:off x="3291840" y="2971800"/>
            <a:ext cx="2560320" cy="1554480"/>
          </a:xfrm>
          <a:prstGeom prst="roundRect">
            <a:avLst>
              <a:gd name="adj" fmla="val 4706"/>
            </a:avLst>
          </a:prstGeom>
          <a:solidFill>
            <a:srgbClr val="F2F6F4"/>
          </a:solidFill>
          <a:ln w="12700">
            <a:solidFill>
              <a:srgbClr val="F2F6F4"/>
            </a:solidFill>
            <a:prstDash val="solid"/>
          </a:ln>
        </p:spPr>
      </p:sp>
      <p:sp>
        <p:nvSpPr>
          <p:cNvPr id="27" name="Shape 25"/>
          <p:cNvSpPr/>
          <p:nvPr/>
        </p:nvSpPr>
        <p:spPr>
          <a:xfrm>
            <a:off x="3429000" y="3108960"/>
            <a:ext cx="329184" cy="329184"/>
          </a:xfrm>
          <a:prstGeom prst="ellipse">
            <a:avLst/>
          </a:prstGeom>
          <a:solidFill>
            <a:srgbClr val="3F7B64"/>
          </a:solidFill>
          <a:ln w="12700">
            <a:solidFill>
              <a:srgbClr val="3F7B64"/>
            </a:solidFill>
            <a:prstDash val="solid"/>
          </a:ln>
        </p:spPr>
      </p:sp>
      <p:sp>
        <p:nvSpPr>
          <p:cNvPr id="28" name="Text 26"/>
          <p:cNvSpPr txBox="1"/>
          <p:nvPr/>
        </p:nvSpPr>
        <p:spPr>
          <a:xfrm>
            <a:off x="3429000" y="31089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9" name="Text 27"/>
          <p:cNvSpPr txBox="1"/>
          <p:nvPr/>
        </p:nvSpPr>
        <p:spPr>
          <a:xfrm>
            <a:off x="3858768" y="3108960"/>
            <a:ext cx="1920240" cy="329184"/>
          </a:xfrm>
          <a:prstGeom prst="rect">
            <a:avLst/>
          </a:prstGeom>
          <a:noFill/>
          <a:ln/>
        </p:spPr>
        <p:txBody>
          <a:bodyPr wrap="square" lIns="0" tIns="0" rIns="0" bIns="0" rtlCol="0" anchor="ctr"/>
          <a:lstStyle/>
          <a:p>
            <a:pPr indent="0" marL="0">
              <a:buNone/>
            </a:pPr>
            <a:r>
              <a:rPr lang="en-US" sz="1500" b="1" dirty="0">
                <a:solidFill>
                  <a:srgbClr val="2F2E2D"/>
                </a:solidFill>
              </a:rPr>
              <a:t>What-if in words</a:t>
            </a:r>
            <a:endParaRPr lang="en-US" sz="1500" dirty="0"/>
          </a:p>
        </p:txBody>
      </p:sp>
      <p:sp>
        <p:nvSpPr>
          <p:cNvPr id="30" name="Text 28"/>
          <p:cNvSpPr txBox="1"/>
          <p:nvPr/>
        </p:nvSpPr>
        <p:spPr>
          <a:xfrm>
            <a:off x="3429000" y="3538728"/>
            <a:ext cx="2286000" cy="914400"/>
          </a:xfrm>
          <a:prstGeom prst="rect">
            <a:avLst/>
          </a:prstGeom>
          <a:noFill/>
          <a:ln/>
        </p:spPr>
        <p:txBody>
          <a:bodyPr wrap="square" lIns="0" tIns="0" rIns="0" bIns="0" rtlCol="0" anchor="t"/>
          <a:lstStyle/>
          <a:p>
            <a:pPr indent="0" marL="0">
              <a:buNone/>
            </a:pPr>
            <a:r>
              <a:rPr lang="en-US" sz="1400" dirty="0">
                <a:solidFill>
                  <a:srgbClr val="2F2E2D"/>
                </a:solidFill>
              </a:rPr>
              <a:t>Sleep and step sliders rescore the model. Nothing is saved.</a:t>
            </a:r>
            <a:endParaRPr lang="en-US" sz="1400" dirty="0"/>
          </a:p>
        </p:txBody>
      </p:sp>
      <p:sp>
        <p:nvSpPr>
          <p:cNvPr id="31" name="Shape 29"/>
          <p:cNvSpPr/>
          <p:nvPr/>
        </p:nvSpPr>
        <p:spPr>
          <a:xfrm>
            <a:off x="6035040" y="2971800"/>
            <a:ext cx="2560320" cy="1554480"/>
          </a:xfrm>
          <a:prstGeom prst="roundRect">
            <a:avLst>
              <a:gd name="adj" fmla="val 4706"/>
            </a:avLst>
          </a:prstGeom>
          <a:solidFill>
            <a:srgbClr val="F2F6F4"/>
          </a:solidFill>
          <a:ln w="12700">
            <a:solidFill>
              <a:srgbClr val="F2F6F4"/>
            </a:solidFill>
            <a:prstDash val="solid"/>
          </a:ln>
        </p:spPr>
      </p:sp>
      <p:sp>
        <p:nvSpPr>
          <p:cNvPr id="32" name="Shape 30"/>
          <p:cNvSpPr/>
          <p:nvPr/>
        </p:nvSpPr>
        <p:spPr>
          <a:xfrm>
            <a:off x="6172200" y="3108960"/>
            <a:ext cx="329184" cy="329184"/>
          </a:xfrm>
          <a:prstGeom prst="ellipse">
            <a:avLst/>
          </a:prstGeom>
          <a:solidFill>
            <a:srgbClr val="3F7B64"/>
          </a:solidFill>
          <a:ln w="12700">
            <a:solidFill>
              <a:srgbClr val="3F7B64"/>
            </a:solidFill>
            <a:prstDash val="solid"/>
          </a:ln>
        </p:spPr>
      </p:sp>
      <p:sp>
        <p:nvSpPr>
          <p:cNvPr id="33" name="Text 31"/>
          <p:cNvSpPr txBox="1"/>
          <p:nvPr/>
        </p:nvSpPr>
        <p:spPr>
          <a:xfrm>
            <a:off x="6172200" y="31089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4" name="Text 32"/>
          <p:cNvSpPr txBox="1"/>
          <p:nvPr/>
        </p:nvSpPr>
        <p:spPr>
          <a:xfrm>
            <a:off x="6601968" y="3108960"/>
            <a:ext cx="1920240" cy="329184"/>
          </a:xfrm>
          <a:prstGeom prst="rect">
            <a:avLst/>
          </a:prstGeom>
          <a:noFill/>
          <a:ln/>
        </p:spPr>
        <p:txBody>
          <a:bodyPr wrap="square" lIns="0" tIns="0" rIns="0" bIns="0" rtlCol="0" anchor="ctr"/>
          <a:lstStyle/>
          <a:p>
            <a:pPr indent="0" marL="0">
              <a:buNone/>
            </a:pPr>
            <a:r>
              <a:rPr lang="en-US" sz="1500" b="1" dirty="0">
                <a:solidFill>
                  <a:srgbClr val="2F2E2D"/>
                </a:solidFill>
              </a:rPr>
              <a:t>One hit, one miss</a:t>
            </a:r>
            <a:endParaRPr lang="en-US" sz="1500" dirty="0"/>
          </a:p>
        </p:txBody>
      </p:sp>
      <p:sp>
        <p:nvSpPr>
          <p:cNvPr id="35" name="Text 33"/>
          <p:cNvSpPr txBox="1"/>
          <p:nvPr/>
        </p:nvSpPr>
        <p:spPr>
          <a:xfrm>
            <a:off x="6172200" y="3538728"/>
            <a:ext cx="2286000" cy="914400"/>
          </a:xfrm>
          <a:prstGeom prst="rect">
            <a:avLst/>
          </a:prstGeom>
          <a:noFill/>
          <a:ln/>
        </p:spPr>
        <p:txBody>
          <a:bodyPr wrap="square" lIns="0" tIns="0" rIns="0" bIns="0" rtlCol="0" anchor="t"/>
          <a:lstStyle/>
          <a:p>
            <a:pPr indent="0" marL="0">
              <a:buNone/>
            </a:pPr>
            <a:r>
              <a:rPr lang="en-US" sz="1400" dirty="0">
                <a:solidFill>
                  <a:srgbClr val="2F2E2D"/>
                </a:solidFill>
              </a:rPr>
              <a:t>Model notes pin one right alert and one wrong alert.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2800" b="1" dirty="0">
                <a:solidFill>
                  <a:srgbClr val="2F2E2D"/>
                </a:solidFill>
              </a:rPr>
              <a:t>Built to be honest, and where it goes next</a:t>
            </a:r>
            <a:endParaRPr lang="en-US" sz="2800" dirty="0"/>
          </a:p>
        </p:txBody>
      </p:sp>
      <p:sp>
        <p:nvSpPr>
          <p:cNvPr id="3" name="Shape 1"/>
          <p:cNvSpPr/>
          <p:nvPr/>
        </p:nvSpPr>
        <p:spPr>
          <a:xfrm>
            <a:off x="548640" y="1024128"/>
            <a:ext cx="411480" cy="32004"/>
          </a:xfrm>
          <a:prstGeom prst="rect">
            <a:avLst/>
          </a:prstGeom>
          <a:solidFill>
            <a:srgbClr val="3F7B64"/>
          </a:solidFill>
          <a:ln w="12700">
            <a:solidFill>
              <a:srgbClr val="3F7B64"/>
            </a:solidFill>
            <a:prstDash val="solid"/>
          </a:ln>
        </p:spPr>
      </p:sp>
      <p:sp>
        <p:nvSpPr>
          <p:cNvPr id="4" name="Text 2"/>
          <p:cNvSpPr txBox="1"/>
          <p:nvPr/>
        </p:nvSpPr>
        <p:spPr>
          <a:xfrm>
            <a:off x="548640" y="4754880"/>
            <a:ext cx="3657600" cy="228600"/>
          </a:xfrm>
          <a:prstGeom prst="rect">
            <a:avLst/>
          </a:prstGeom>
          <a:noFill/>
          <a:ln/>
        </p:spPr>
        <p:txBody>
          <a:bodyPr wrap="square" lIns="0" tIns="0" rIns="0" bIns="0" rtlCol="0" anchor="ctr"/>
          <a:lstStyle/>
          <a:p>
            <a:pPr indent="0" marL="0">
              <a:buNone/>
            </a:pPr>
            <a:r>
              <a:rPr lang="en-US" sz="1000" dirty="0">
                <a:solidFill>
                  <a:srgbClr val="6B6967"/>
                </a:solidFill>
              </a:rPr>
              <a:t>GlycoTwin | Team Aeternum</a:t>
            </a:r>
            <a:endParaRPr lang="en-US" sz="1000" dirty="0"/>
          </a:p>
        </p:txBody>
      </p:sp>
      <p:sp>
        <p:nvSpPr>
          <p:cNvPr id="5" name="Text 3"/>
          <p:cNvSpPr txBox="1"/>
          <p:nvPr/>
        </p:nvSpPr>
        <p:spPr>
          <a:xfrm>
            <a:off x="8138160" y="4754880"/>
            <a:ext cx="457200" cy="228600"/>
          </a:xfrm>
          <a:prstGeom prst="rect">
            <a:avLst/>
          </a:prstGeom>
          <a:noFill/>
          <a:ln/>
        </p:spPr>
        <p:txBody>
          <a:bodyPr wrap="square" lIns="0" tIns="0" rIns="0" bIns="0" rtlCol="0" anchor="ctr"/>
          <a:lstStyle/>
          <a:p>
            <a:pPr algn="r" indent="0" marL="0">
              <a:buNone/>
            </a:pPr>
            <a:r>
              <a:rPr lang="en-US" sz="1000" dirty="0">
                <a:solidFill>
                  <a:srgbClr val="6B6967"/>
                </a:solidFill>
              </a:rPr>
              <a:t>11</a:t>
            </a:r>
            <a:endParaRPr lang="en-US" sz="1000" dirty="0"/>
          </a:p>
        </p:txBody>
      </p:sp>
      <p:sp>
        <p:nvSpPr>
          <p:cNvPr id="6" name="Shape 4"/>
          <p:cNvSpPr/>
          <p:nvPr/>
        </p:nvSpPr>
        <p:spPr>
          <a:xfrm>
            <a:off x="548640" y="1280160"/>
            <a:ext cx="3931920" cy="2743200"/>
          </a:xfrm>
          <a:prstGeom prst="roundRect">
            <a:avLst>
              <a:gd name="adj" fmla="val 2667"/>
            </a:avLst>
          </a:prstGeom>
          <a:solidFill>
            <a:srgbClr val="F2F6F4"/>
          </a:solidFill>
          <a:ln w="12700">
            <a:solidFill>
              <a:srgbClr val="F2F6F4"/>
            </a:solidFill>
            <a:prstDash val="solid"/>
          </a:ln>
        </p:spPr>
      </p:sp>
      <p:sp>
        <p:nvSpPr>
          <p:cNvPr id="7" name="Text 5"/>
          <p:cNvSpPr txBox="1"/>
          <p:nvPr/>
        </p:nvSpPr>
        <p:spPr>
          <a:xfrm>
            <a:off x="777240" y="1417320"/>
            <a:ext cx="3474720" cy="365760"/>
          </a:xfrm>
          <a:prstGeom prst="rect">
            <a:avLst/>
          </a:prstGeom>
          <a:noFill/>
          <a:ln/>
        </p:spPr>
        <p:txBody>
          <a:bodyPr wrap="square" lIns="0" tIns="0" rIns="0" bIns="0" rtlCol="0" anchor="ctr"/>
          <a:lstStyle/>
          <a:p>
            <a:pPr indent="0" marL="0">
              <a:buNone/>
            </a:pPr>
            <a:r>
              <a:rPr lang="en-US" sz="1800" b="1" dirty="0">
                <a:solidFill>
                  <a:srgbClr val="3F7B64"/>
                </a:solidFill>
              </a:rPr>
              <a:t>Today</a:t>
            </a:r>
            <a:endParaRPr lang="en-US" sz="1800" dirty="0"/>
          </a:p>
        </p:txBody>
      </p:sp>
      <p:sp>
        <p:nvSpPr>
          <p:cNvPr id="8" name="Text 6"/>
          <p:cNvSpPr txBox="1"/>
          <p:nvPr/>
        </p:nvSpPr>
        <p:spPr>
          <a:xfrm>
            <a:off x="777240" y="1874520"/>
            <a:ext cx="3520440" cy="24688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F2E2D"/>
                </a:solidFill>
              </a:rPr>
              <a:t>Synthetic data: Synthea records and a simulated wearable series, seed 2026</a:t>
            </a:r>
            <a:endParaRPr lang="en-US" sz="1400" dirty="0"/>
          </a:p>
          <a:p>
            <a:pPr marL="342900" indent="-342900">
              <a:spcAft>
                <a:spcPts val="500"/>
              </a:spcAft>
              <a:buSzPct val="100000"/>
              <a:buChar char="•"/>
            </a:pPr>
            <a:r>
              <a:rPr lang="en-US" sz="1400" dirty="0">
                <a:solidFill>
                  <a:srgbClr val="2F2E2D"/>
                </a:solidFill>
              </a:rPr>
              <a:t>Not a clinical validation</a:t>
            </a:r>
            <a:endParaRPr lang="en-US" sz="1400" dirty="0"/>
          </a:p>
          <a:p>
            <a:pPr marL="342900" indent="-342900">
              <a:spcAft>
                <a:spcPts val="500"/>
              </a:spcAft>
              <a:buSzPct val="100000"/>
              <a:buChar char="•"/>
            </a:pPr>
            <a:r>
              <a:rPr lang="en-US" sz="1400" dirty="0">
                <a:solidFill>
                  <a:srgbClr val="2F2E2D"/>
                </a:solidFill>
              </a:rPr>
              <a:t>The screen never recommends a drug dose</a:t>
            </a:r>
            <a:endParaRPr lang="en-US" sz="1400" dirty="0"/>
          </a:p>
          <a:p>
            <a:pPr marL="342900" indent="-342900">
              <a:spcAft>
                <a:spcPts val="500"/>
              </a:spcAft>
              <a:buSzPct val="100000"/>
              <a:buChar char="•"/>
            </a:pPr>
            <a:r>
              <a:rPr lang="en-US" sz="1400" dirty="0">
                <a:solidFill>
                  <a:srgbClr val="2F2E2D"/>
                </a:solidFill>
              </a:rPr>
              <a:t>The prototype replays a stored 14-day trace, not live wearables</a:t>
            </a:r>
            <a:endParaRPr lang="en-US" sz="1400" dirty="0"/>
          </a:p>
          <a:p>
            <a:pPr marL="342900" indent="-342900">
              <a:spcAft>
                <a:spcPts val="500"/>
              </a:spcAft>
              <a:buSzPct val="100000"/>
              <a:buChar char="•"/>
            </a:pPr>
            <a:r>
              <a:rPr lang="en-US" sz="1400" dirty="0">
                <a:solidFill>
                  <a:srgbClr val="2F2E2D"/>
                </a:solidFill>
              </a:rPr>
              <a:t>The prototype sends no real messages</a:t>
            </a:r>
            <a:endParaRPr lang="en-US" sz="1400" dirty="0"/>
          </a:p>
        </p:txBody>
      </p:sp>
      <p:sp>
        <p:nvSpPr>
          <p:cNvPr id="9" name="Shape 7"/>
          <p:cNvSpPr/>
          <p:nvPr/>
        </p:nvSpPr>
        <p:spPr>
          <a:xfrm>
            <a:off x="4663440" y="1280160"/>
            <a:ext cx="3931920" cy="2743200"/>
          </a:xfrm>
          <a:prstGeom prst="roundRect">
            <a:avLst>
              <a:gd name="adj" fmla="val 2667"/>
            </a:avLst>
          </a:prstGeom>
          <a:solidFill>
            <a:srgbClr val="FBEEEA"/>
          </a:solidFill>
          <a:ln w="12700">
            <a:solidFill>
              <a:srgbClr val="FBEEEA"/>
            </a:solidFill>
            <a:prstDash val="solid"/>
          </a:ln>
        </p:spPr>
      </p:sp>
      <p:sp>
        <p:nvSpPr>
          <p:cNvPr id="10" name="Text 8"/>
          <p:cNvSpPr txBox="1"/>
          <p:nvPr/>
        </p:nvSpPr>
        <p:spPr>
          <a:xfrm>
            <a:off x="4892040" y="1417320"/>
            <a:ext cx="3474720" cy="365760"/>
          </a:xfrm>
          <a:prstGeom prst="rect">
            <a:avLst/>
          </a:prstGeom>
          <a:noFill/>
          <a:ln/>
        </p:spPr>
        <p:txBody>
          <a:bodyPr wrap="square" lIns="0" tIns="0" rIns="0" bIns="0" rtlCol="0" anchor="ctr"/>
          <a:lstStyle/>
          <a:p>
            <a:pPr indent="0" marL="0">
              <a:buNone/>
            </a:pPr>
            <a:r>
              <a:rPr lang="en-US" sz="1800" b="1" dirty="0">
                <a:solidFill>
                  <a:srgbClr val="C74634"/>
                </a:solidFill>
              </a:rPr>
              <a:t>Next</a:t>
            </a:r>
            <a:endParaRPr lang="en-US" sz="1800" dirty="0"/>
          </a:p>
        </p:txBody>
      </p:sp>
      <p:sp>
        <p:nvSpPr>
          <p:cNvPr id="11" name="Text 9"/>
          <p:cNvSpPr txBox="1"/>
          <p:nvPr/>
        </p:nvSpPr>
        <p:spPr>
          <a:xfrm>
            <a:off x="4892040" y="1874520"/>
            <a:ext cx="3520440" cy="24688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F2E2D"/>
                </a:solidFill>
              </a:rPr>
              <a:t>Live, consented CGM and watch data for true 24/7 monitoring, joined to the lab record</a:t>
            </a:r>
            <a:endParaRPr lang="en-US" sz="1400" dirty="0"/>
          </a:p>
          <a:p>
            <a:pPr marL="342900" indent="-342900">
              <a:spcAft>
                <a:spcPts val="500"/>
              </a:spcAft>
              <a:buSzPct val="100000"/>
              <a:buChar char="•"/>
            </a:pPr>
            <a:r>
              <a:rPr lang="en-US" sz="1400" dirty="0">
                <a:solidFill>
                  <a:srgbClr val="2F2E2D"/>
                </a:solidFill>
              </a:rPr>
              <a:t>Designed to integrate with ABHA and the WhatsApp Business API</a:t>
            </a:r>
            <a:endParaRPr lang="en-US" sz="1400" dirty="0"/>
          </a:p>
          <a:p>
            <a:pPr marL="342900" indent="-342900">
              <a:spcAft>
                <a:spcPts val="500"/>
              </a:spcAft>
              <a:buSzPct val="100000"/>
              <a:buChar char="•"/>
            </a:pPr>
            <a:r>
              <a:rPr lang="en-US" sz="1400" dirty="0">
                <a:solidFill>
                  <a:srgbClr val="2F2E2D"/>
                </a:solidFill>
              </a:rPr>
              <a:t>A prospective check on real traces before any alert reaches a patient</a:t>
            </a:r>
            <a:endParaRPr lang="en-US" sz="1400" dirty="0"/>
          </a:p>
          <a:p>
            <a:pPr marL="342900" indent="-342900">
              <a:spcAft>
                <a:spcPts val="500"/>
              </a:spcAft>
              <a:buSzPct val="100000"/>
              <a:buChar char="•"/>
            </a:pPr>
            <a:r>
              <a:rPr lang="en-US" sz="1400" dirty="0">
                <a:solidFill>
                  <a:srgbClr val="2F2E2D"/>
                </a:solidFill>
              </a:rPr>
              <a:t>Escalation rules set by each clinic</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ills, tree and colour lines">    </p:cNvPr>
          <p:cNvPicPr>
            <a:picLocks noChangeAspect="1"/>
          </p:cNvPicPr>
          <p:nvPr/>
        </p:nvPicPr>
        <p:blipFill>
          <a:blip r:embed="rId1"/>
          <a:stretch>
            <a:fillRect/>
          </a:stretch>
        </p:blipFill>
        <p:spPr>
          <a:xfrm>
            <a:off x="0" y="0"/>
            <a:ext cx="9144000" cy="5143500"/>
          </a:xfrm>
          <a:prstGeom prst="rect">
            <a:avLst/>
          </a:prstGeom>
        </p:spPr>
      </p:pic>
      <p:sp>
        <p:nvSpPr>
          <p:cNvPr id="3" name="Text 0"/>
          <p:cNvSpPr txBox="1"/>
          <p:nvPr/>
        </p:nvSpPr>
        <p:spPr>
          <a:xfrm>
            <a:off x="630936" y="329184"/>
            <a:ext cx="2926080" cy="365760"/>
          </a:xfrm>
          <a:prstGeom prst="rect">
            <a:avLst/>
          </a:prstGeom>
          <a:noFill/>
          <a:ln/>
        </p:spPr>
        <p:txBody>
          <a:bodyPr wrap="square" lIns="0" tIns="0" rIns="0" bIns="0" rtlCol="0" anchor="ctr"/>
          <a:lstStyle/>
          <a:p>
            <a:pPr indent="0" marL="0">
              <a:buNone/>
            </a:pPr>
            <a:r>
              <a:rPr lang="en-US" sz="2200" b="1" dirty="0">
                <a:solidFill>
                  <a:srgbClr val="C74634"/>
                </a:solidFill>
              </a:rPr>
              <a:t>GlycoTwin</a:t>
            </a:r>
            <a:endParaRPr lang="en-US" sz="2200" dirty="0"/>
          </a:p>
        </p:txBody>
      </p:sp>
      <p:sp>
        <p:nvSpPr>
          <p:cNvPr id="4" name="Text 1"/>
          <p:cNvSpPr txBox="1"/>
          <p:nvPr/>
        </p:nvSpPr>
        <p:spPr>
          <a:xfrm>
            <a:off x="630936" y="1417320"/>
            <a:ext cx="5760720" cy="1188720"/>
          </a:xfrm>
          <a:prstGeom prst="rect">
            <a:avLst/>
          </a:prstGeom>
          <a:noFill/>
          <a:ln/>
        </p:spPr>
        <p:txBody>
          <a:bodyPr wrap="square" lIns="0" tIns="0" rIns="0" bIns="0" rtlCol="0" anchor="ctr"/>
          <a:lstStyle/>
          <a:p>
            <a:pPr indent="0" marL="0">
              <a:buNone/>
            </a:pPr>
            <a:r>
              <a:rPr lang="en-US" sz="4400" b="1" dirty="0">
                <a:solidFill>
                  <a:srgbClr val="2F2E2D"/>
                </a:solidFill>
              </a:rPr>
              <a:t>Thank you</a:t>
            </a:r>
            <a:endParaRPr lang="en-US" sz="4400" dirty="0"/>
          </a:p>
        </p:txBody>
      </p:sp>
      <p:sp>
        <p:nvSpPr>
          <p:cNvPr id="5" name="Shape 2"/>
          <p:cNvSpPr/>
          <p:nvPr/>
        </p:nvSpPr>
        <p:spPr>
          <a:xfrm>
            <a:off x="630936" y="2743200"/>
            <a:ext cx="274320" cy="32004"/>
          </a:xfrm>
          <a:prstGeom prst="rect">
            <a:avLst/>
          </a:prstGeom>
          <a:solidFill>
            <a:srgbClr val="E0A84A"/>
          </a:solidFill>
          <a:ln w="12700">
            <a:solidFill>
              <a:srgbClr val="E0A84A"/>
            </a:solidFill>
            <a:prstDash val="solid"/>
          </a:ln>
        </p:spPr>
      </p:sp>
      <p:sp>
        <p:nvSpPr>
          <p:cNvPr id="6" name="Text 3"/>
          <p:cNvSpPr txBox="1"/>
          <p:nvPr/>
        </p:nvSpPr>
        <p:spPr>
          <a:xfrm>
            <a:off x="630936" y="2971800"/>
            <a:ext cx="5120640" cy="822960"/>
          </a:xfrm>
          <a:prstGeom prst="rect">
            <a:avLst/>
          </a:prstGeom>
          <a:noFill/>
          <a:ln/>
        </p:spPr>
        <p:txBody>
          <a:bodyPr wrap="square" lIns="0" tIns="0" rIns="0" bIns="0" rtlCol="0" anchor="t"/>
          <a:lstStyle/>
          <a:p>
            <a:pPr indent="0" marL="0">
              <a:buNone/>
            </a:pPr>
            <a:r>
              <a:rPr lang="en-US" sz="1800" dirty="0">
                <a:solidFill>
                  <a:srgbClr val="6B6967"/>
                </a:solidFill>
              </a:rPr>
              <a:t>A checkup shows today. GlycoTwin helps the doctor watch for the next spike, 24/7.</a:t>
            </a:r>
            <a:endParaRPr lang="en-US" sz="1800" dirty="0"/>
          </a:p>
        </p:txBody>
      </p:sp>
      <p:sp>
        <p:nvSpPr>
          <p:cNvPr id="7" name="Shape 4"/>
          <p:cNvSpPr/>
          <p:nvPr/>
        </p:nvSpPr>
        <p:spPr>
          <a:xfrm>
            <a:off x="429768" y="5010912"/>
            <a:ext cx="3840480" cy="27432"/>
          </a:xfrm>
          <a:prstGeom prst="rect">
            <a:avLst/>
          </a:prstGeom>
          <a:solidFill>
            <a:srgbClr val="C74634"/>
          </a:solidFill>
          <a:ln w="12700">
            <a:solidFill>
              <a:srgbClr val="C7463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GlycoTwin - Type 2 Diabetes Digital Twin</dc:title>
  <dc:subject>PptxGenJS Presentation</dc:subject>
  <dc:creator>Team Aeternum</dc:creator>
  <cp:lastModifiedBy>Team Aeternum</cp:lastModifiedBy>
  <cp:revision>1</cp:revision>
  <dcterms:created xsi:type="dcterms:W3CDTF">2026-10-21T22:38:22Z</dcterms:created>
  <dcterms:modified xsi:type="dcterms:W3CDTF">2026-10-21T22:38:22Z</dcterms:modified>
</cp:coreProperties>
</file>